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9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DE5FA-1499-457D-9471-3D277828BB88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7D63F-6B5E-4125-B80A-D6C38D8485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38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A1840-6BD5-46DC-A81F-AF456BC2AD5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294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DDEF1-412B-452B-AB5C-AC7BCF443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425548-F211-45BF-A8E7-6CA2A1F7D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74B1A6-0C4B-4A77-8C5D-7279AE35C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91A800-22C5-416B-8747-3106D26B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D88CB-2CDB-4919-8CB1-B846401F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31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35938-0A2D-4D89-9864-46A9C013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7EDF14-ED37-42C4-BCAF-0DA462C13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96B3F5-110F-42BF-BBBB-61CDF744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043786-97B9-400C-B311-803864BD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E9662-515F-4F1D-9C18-EA6189C3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8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B2F56-D180-4C19-8D92-621D5F1E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74C8BC-2E65-4073-8B9E-7D9015DAF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521C91-A098-4292-A8C9-ACBBD379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242EE0-A565-4F14-97D8-E4BC9ED0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6B76B1-2A29-472E-97E0-8FE615C4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12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603E1-2D21-4BB4-A2FA-ED17DD3A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B8442-5DFF-4B2D-8421-BB2DBB326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FEE423-58A6-41D5-B3EA-16E66C76E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86D32-3F08-4A42-94D9-37F4E0A7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20EE56-72A1-498F-B627-9803D496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2CDE97-F9F0-4DC2-8FAE-B51F250C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13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E9D35-402D-4D16-BA54-26F6E618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3D8470-E6A8-4F00-8341-CE5670A8B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3C442B-93F8-4A27-AAC2-EB41BD5E2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11D3AE-7EFF-4167-BC6A-B7CD0823F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83627D-DED7-402E-9B82-33F91D0E2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A2E0C5D-05B1-48F0-A60A-A643549F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ABA03AF-606A-4D6E-8A63-BCF71278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6915EA-B871-4324-A85F-CC69F802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07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C620C-B030-484B-A4EF-89E0F3EA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4A2008-9D9D-4AAB-A6B4-F4D0A6C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F18ED8-6D53-44EB-BEB8-92196421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C6BF99-70C7-421C-9D3B-D1AAA1E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223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67DDE6-A0CB-4CC5-8825-433A1BA37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1CE300-D5B9-45C1-B9B3-53C9AE41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E4068A-1D4B-4EAB-8A20-FA628DCB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37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49702-DC72-45DC-A2D3-969914B1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D45B48-BB8D-4B30-B341-BC358B316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9DBD44-FE37-4B79-BDE2-CC5559F55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41E923-8A46-453C-8FB8-EBD6722D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CF031A-D778-45B3-BE58-21CEE669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C61A7B-79BD-427C-9A35-1206EBAF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21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F9179-DB8C-4597-9224-974328FB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293414-C9DC-48C7-9A52-FBF85FE89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4AD600-E001-480E-B2C0-083F571D8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5D6011-3904-462A-B81C-836F8476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97009B-B38C-4078-9D38-893D2679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56A3E3-EB9A-40EB-B8B9-2B5C291F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43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5F5BF-6714-49AF-8517-D9B9817D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D3FBED-B677-4BC6-AD78-774465407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08C753-804A-4E56-9C95-44569898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B793F2-5140-4EBB-8CD1-A48167BC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8F4F9-06A5-46A7-B43A-26D61F03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65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955D37-E070-4B5E-A19E-9CF923F3D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752E59-F7FA-4978-82A1-D5569242D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9C9F83-59EA-469A-9248-A35DCC1A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C540C0-2E07-42FA-8F22-21DEC0AB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6EF914-5636-4204-99BB-8731B360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41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12601A-9312-41B0-85AF-A7AF0169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F8A126-803B-493E-8743-DF5C08FF7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F4C7B6-D85A-410B-8310-EE038ED7D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5385E0-1DE2-4267-9BB2-9696CED27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C4985A-DD1E-49EB-9E9C-E54594006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19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84975" y="990505"/>
            <a:ext cx="7324116" cy="461665"/>
          </a:xfrm>
          <a:prstGeom prst="rect">
            <a:avLst/>
          </a:prstGeom>
          <a:solidFill>
            <a:srgbClr val="339933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pt-BR" sz="3000">
                <a:solidFill>
                  <a:schemeClr val="accent6">
                    <a:lumMod val="20000"/>
                    <a:lumOff val="80000"/>
                  </a:schemeClr>
                </a:solidFill>
                <a:latin typeface="Arimo Bold"/>
              </a:rPr>
              <a:t>CANVAS DE PROPOSTA DE VALOR</a:t>
            </a:r>
          </a:p>
        </p:txBody>
      </p:sp>
      <p:sp>
        <p:nvSpPr>
          <p:cNvPr id="3" name="Freeform 3"/>
          <p:cNvSpPr/>
          <p:nvPr/>
        </p:nvSpPr>
        <p:spPr>
          <a:xfrm>
            <a:off x="6266965" y="1916355"/>
            <a:ext cx="4146086" cy="4146086"/>
          </a:xfrm>
          <a:custGeom>
            <a:avLst/>
            <a:gdLst/>
            <a:ahLst/>
            <a:cxnLst/>
            <a:rect l="l" t="t" r="r" b="b"/>
            <a:pathLst>
              <a:path w="8292171" h="8292171">
                <a:moveTo>
                  <a:pt x="0" y="0"/>
                </a:moveTo>
                <a:lnTo>
                  <a:pt x="8292171" y="0"/>
                </a:lnTo>
                <a:lnTo>
                  <a:pt x="8292171" y="8292170"/>
                </a:lnTo>
                <a:lnTo>
                  <a:pt x="0" y="8292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4" name="Freeform 4"/>
          <p:cNvSpPr/>
          <p:nvPr/>
        </p:nvSpPr>
        <p:spPr>
          <a:xfrm>
            <a:off x="7846874" y="3637369"/>
            <a:ext cx="874752" cy="809113"/>
          </a:xfrm>
          <a:custGeom>
            <a:avLst/>
            <a:gdLst/>
            <a:ahLst/>
            <a:cxnLst/>
            <a:rect l="l" t="t" r="r" b="b"/>
            <a:pathLst>
              <a:path w="1749503" h="1618226">
                <a:moveTo>
                  <a:pt x="0" y="0"/>
                </a:moveTo>
                <a:lnTo>
                  <a:pt x="1749503" y="0"/>
                </a:lnTo>
                <a:lnTo>
                  <a:pt x="1749503" y="1618225"/>
                </a:lnTo>
                <a:lnTo>
                  <a:pt x="0" y="1618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5" name="Freeform 5"/>
          <p:cNvSpPr/>
          <p:nvPr/>
        </p:nvSpPr>
        <p:spPr>
          <a:xfrm>
            <a:off x="7831490" y="3588961"/>
            <a:ext cx="907356" cy="843434"/>
          </a:xfrm>
          <a:custGeom>
            <a:avLst/>
            <a:gdLst/>
            <a:ahLst/>
            <a:cxnLst/>
            <a:rect l="l" t="t" r="r" b="b"/>
            <a:pathLst>
              <a:path w="1814712" h="1686867">
                <a:moveTo>
                  <a:pt x="0" y="0"/>
                </a:moveTo>
                <a:lnTo>
                  <a:pt x="1814712" y="0"/>
                </a:lnTo>
                <a:lnTo>
                  <a:pt x="1814712" y="1686868"/>
                </a:lnTo>
                <a:lnTo>
                  <a:pt x="0" y="16868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6" name="Freeform 6"/>
          <p:cNvSpPr/>
          <p:nvPr/>
        </p:nvSpPr>
        <p:spPr>
          <a:xfrm>
            <a:off x="8055767" y="3901758"/>
            <a:ext cx="82258" cy="82258"/>
          </a:xfrm>
          <a:custGeom>
            <a:avLst/>
            <a:gdLst/>
            <a:ahLst/>
            <a:cxnLst/>
            <a:rect l="l" t="t" r="r" b="b"/>
            <a:pathLst>
              <a:path w="164516" h="164516">
                <a:moveTo>
                  <a:pt x="0" y="0"/>
                </a:moveTo>
                <a:lnTo>
                  <a:pt x="164515" y="0"/>
                </a:lnTo>
                <a:lnTo>
                  <a:pt x="164515" y="164515"/>
                </a:lnTo>
                <a:lnTo>
                  <a:pt x="0" y="1645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grpSp>
        <p:nvGrpSpPr>
          <p:cNvPr id="7" name="Group 7"/>
          <p:cNvGrpSpPr/>
          <p:nvPr/>
        </p:nvGrpSpPr>
        <p:grpSpPr>
          <a:xfrm>
            <a:off x="5972846" y="4465248"/>
            <a:ext cx="950652" cy="443018"/>
            <a:chOff x="0" y="0"/>
            <a:chExt cx="500755" cy="1508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CD3333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35779" y="5331021"/>
            <a:ext cx="950652" cy="286420"/>
            <a:chOff x="0" y="0"/>
            <a:chExt cx="500755" cy="1508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CD3333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192135" y="5784508"/>
            <a:ext cx="950652" cy="286420"/>
            <a:chOff x="0" y="0"/>
            <a:chExt cx="500755" cy="1508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CD3333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59623" y="5771820"/>
            <a:ext cx="950652" cy="286420"/>
            <a:chOff x="0" y="0"/>
            <a:chExt cx="500755" cy="1508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CD3333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65758" y="2713386"/>
            <a:ext cx="950652" cy="499590"/>
            <a:chOff x="0" y="0"/>
            <a:chExt cx="500755" cy="15661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0755" cy="156614"/>
            </a:xfrm>
            <a:custGeom>
              <a:avLst/>
              <a:gdLst/>
              <a:ahLst/>
              <a:cxnLst/>
              <a:rect l="l" t="t" r="r" b="b"/>
              <a:pathLst>
                <a:path w="500755" h="156614">
                  <a:moveTo>
                    <a:pt x="78307" y="0"/>
                  </a:moveTo>
                  <a:lnTo>
                    <a:pt x="422448" y="0"/>
                  </a:lnTo>
                  <a:cubicBezTo>
                    <a:pt x="465696" y="0"/>
                    <a:pt x="500755" y="35059"/>
                    <a:pt x="500755" y="78307"/>
                  </a:cubicBezTo>
                  <a:lnTo>
                    <a:pt x="500755" y="78307"/>
                  </a:lnTo>
                  <a:cubicBezTo>
                    <a:pt x="500755" y="121555"/>
                    <a:pt x="465696" y="156614"/>
                    <a:pt x="422448" y="156614"/>
                  </a:cubicBezTo>
                  <a:lnTo>
                    <a:pt x="78307" y="156614"/>
                  </a:lnTo>
                  <a:cubicBezTo>
                    <a:pt x="35059" y="156614"/>
                    <a:pt x="0" y="121555"/>
                    <a:pt x="0" y="78307"/>
                  </a:cubicBezTo>
                  <a:lnTo>
                    <a:pt x="0" y="78307"/>
                  </a:lnTo>
                  <a:cubicBezTo>
                    <a:pt x="0" y="35059"/>
                    <a:pt x="35059" y="0"/>
                    <a:pt x="78307" y="0"/>
                  </a:cubicBezTo>
                  <a:close/>
                </a:path>
              </a:pathLst>
            </a:custGeom>
            <a:solidFill>
              <a:srgbClr val="EEBA4A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500755" cy="14708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65758" y="3499997"/>
            <a:ext cx="950652" cy="286420"/>
            <a:chOff x="0" y="0"/>
            <a:chExt cx="500755" cy="1508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EEBA4A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81852" y="4134995"/>
            <a:ext cx="950652" cy="299500"/>
            <a:chOff x="0" y="0"/>
            <a:chExt cx="500755" cy="1577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0755" cy="157761"/>
            </a:xfrm>
            <a:custGeom>
              <a:avLst/>
              <a:gdLst/>
              <a:ahLst/>
              <a:cxnLst/>
              <a:rect l="l" t="t" r="r" b="b"/>
              <a:pathLst>
                <a:path w="500755" h="157761">
                  <a:moveTo>
                    <a:pt x="78881" y="0"/>
                  </a:moveTo>
                  <a:lnTo>
                    <a:pt x="421875" y="0"/>
                  </a:lnTo>
                  <a:cubicBezTo>
                    <a:pt x="465439" y="0"/>
                    <a:pt x="500755" y="35316"/>
                    <a:pt x="500755" y="78881"/>
                  </a:cubicBezTo>
                  <a:lnTo>
                    <a:pt x="500755" y="78881"/>
                  </a:lnTo>
                  <a:cubicBezTo>
                    <a:pt x="500755" y="122445"/>
                    <a:pt x="465439" y="157761"/>
                    <a:pt x="421875" y="157761"/>
                  </a:cubicBezTo>
                  <a:lnTo>
                    <a:pt x="78881" y="157761"/>
                  </a:lnTo>
                  <a:cubicBezTo>
                    <a:pt x="35316" y="157761"/>
                    <a:pt x="0" y="122445"/>
                    <a:pt x="0" y="78881"/>
                  </a:cubicBezTo>
                  <a:lnTo>
                    <a:pt x="0" y="78881"/>
                  </a:lnTo>
                  <a:cubicBezTo>
                    <a:pt x="0" y="35316"/>
                    <a:pt x="35316" y="0"/>
                    <a:pt x="78881" y="0"/>
                  </a:cubicBezTo>
                  <a:close/>
                </a:path>
              </a:pathLst>
            </a:custGeom>
            <a:solidFill>
              <a:srgbClr val="EEBA4A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500755" cy="14823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0276" y="4728017"/>
            <a:ext cx="1106135" cy="461194"/>
            <a:chOff x="0" y="0"/>
            <a:chExt cx="500755" cy="15087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EEBA4A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0729" y="2695607"/>
            <a:ext cx="950652" cy="286420"/>
            <a:chOff x="0" y="0"/>
            <a:chExt cx="500755" cy="15087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90C149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873732" y="3390660"/>
            <a:ext cx="950652" cy="286420"/>
            <a:chOff x="0" y="0"/>
            <a:chExt cx="500755" cy="1508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90C149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47033" y="2252334"/>
            <a:ext cx="950652" cy="286420"/>
            <a:chOff x="0" y="0"/>
            <a:chExt cx="500755" cy="15087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90C149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65628" y="1750358"/>
            <a:ext cx="950652" cy="526515"/>
            <a:chOff x="0" y="0"/>
            <a:chExt cx="500755" cy="15087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90C149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sp>
        <p:nvSpPr>
          <p:cNvPr id="43" name="Freeform 43"/>
          <p:cNvSpPr/>
          <p:nvPr/>
        </p:nvSpPr>
        <p:spPr>
          <a:xfrm>
            <a:off x="1633953" y="1844824"/>
            <a:ext cx="4225492" cy="4225492"/>
          </a:xfrm>
          <a:custGeom>
            <a:avLst/>
            <a:gdLst/>
            <a:ahLst/>
            <a:cxnLst/>
            <a:rect l="l" t="t" r="r" b="b"/>
            <a:pathLst>
              <a:path w="8450984" h="8450984">
                <a:moveTo>
                  <a:pt x="0" y="0"/>
                </a:moveTo>
                <a:lnTo>
                  <a:pt x="8450983" y="0"/>
                </a:lnTo>
                <a:lnTo>
                  <a:pt x="8450983" y="8450984"/>
                </a:lnTo>
                <a:lnTo>
                  <a:pt x="0" y="8450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44" name="Freeform 44"/>
          <p:cNvSpPr/>
          <p:nvPr/>
        </p:nvSpPr>
        <p:spPr>
          <a:xfrm>
            <a:off x="3236911" y="3462129"/>
            <a:ext cx="953370" cy="1065218"/>
          </a:xfrm>
          <a:custGeom>
            <a:avLst/>
            <a:gdLst/>
            <a:ahLst/>
            <a:cxnLst/>
            <a:rect l="l" t="t" r="r" b="b"/>
            <a:pathLst>
              <a:path w="1906740" h="2130436">
                <a:moveTo>
                  <a:pt x="0" y="0"/>
                </a:moveTo>
                <a:lnTo>
                  <a:pt x="1906741" y="0"/>
                </a:lnTo>
                <a:lnTo>
                  <a:pt x="1906741" y="2130436"/>
                </a:lnTo>
                <a:lnTo>
                  <a:pt x="0" y="21304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45" name="Freeform 45"/>
          <p:cNvSpPr/>
          <p:nvPr/>
        </p:nvSpPr>
        <p:spPr>
          <a:xfrm rot="3103968">
            <a:off x="1187408" y="2845077"/>
            <a:ext cx="2540341" cy="25404"/>
          </a:xfrm>
          <a:custGeom>
            <a:avLst/>
            <a:gdLst/>
            <a:ahLst/>
            <a:cxnLst/>
            <a:rect l="l" t="t" r="r" b="b"/>
            <a:pathLst>
              <a:path w="5080682" h="50807">
                <a:moveTo>
                  <a:pt x="0" y="0"/>
                </a:moveTo>
                <a:lnTo>
                  <a:pt x="5080681" y="0"/>
                </a:lnTo>
                <a:lnTo>
                  <a:pt x="5080681" y="50807"/>
                </a:lnTo>
                <a:lnTo>
                  <a:pt x="0" y="508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46" name="Freeform 46"/>
          <p:cNvSpPr/>
          <p:nvPr/>
        </p:nvSpPr>
        <p:spPr>
          <a:xfrm rot="8292711">
            <a:off x="1349191" y="5270474"/>
            <a:ext cx="2299038" cy="22991"/>
          </a:xfrm>
          <a:custGeom>
            <a:avLst/>
            <a:gdLst/>
            <a:ahLst/>
            <a:cxnLst/>
            <a:rect l="l" t="t" r="r" b="b"/>
            <a:pathLst>
              <a:path w="4598076" h="45981">
                <a:moveTo>
                  <a:pt x="0" y="0"/>
                </a:moveTo>
                <a:lnTo>
                  <a:pt x="4598076" y="0"/>
                </a:lnTo>
                <a:lnTo>
                  <a:pt x="4598076" y="45981"/>
                </a:lnTo>
                <a:lnTo>
                  <a:pt x="0" y="459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47" name="Freeform 47"/>
          <p:cNvSpPr/>
          <p:nvPr/>
        </p:nvSpPr>
        <p:spPr>
          <a:xfrm>
            <a:off x="4100398" y="4001850"/>
            <a:ext cx="1643940" cy="16440"/>
          </a:xfrm>
          <a:custGeom>
            <a:avLst/>
            <a:gdLst/>
            <a:ahLst/>
            <a:cxnLst/>
            <a:rect l="l" t="t" r="r" b="b"/>
            <a:pathLst>
              <a:path w="3287879" h="32879">
                <a:moveTo>
                  <a:pt x="0" y="0"/>
                </a:moveTo>
                <a:lnTo>
                  <a:pt x="3287879" y="0"/>
                </a:lnTo>
                <a:lnTo>
                  <a:pt x="3287879" y="32878"/>
                </a:lnTo>
                <a:lnTo>
                  <a:pt x="0" y="32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48" name="Freeform 48"/>
          <p:cNvSpPr/>
          <p:nvPr/>
        </p:nvSpPr>
        <p:spPr>
          <a:xfrm>
            <a:off x="7969271" y="4576739"/>
            <a:ext cx="347035" cy="304760"/>
          </a:xfrm>
          <a:custGeom>
            <a:avLst/>
            <a:gdLst/>
            <a:ahLst/>
            <a:cxnLst/>
            <a:rect l="l" t="t" r="r" b="b"/>
            <a:pathLst>
              <a:path w="694069" h="609519">
                <a:moveTo>
                  <a:pt x="0" y="0"/>
                </a:moveTo>
                <a:lnTo>
                  <a:pt x="694069" y="0"/>
                </a:lnTo>
                <a:lnTo>
                  <a:pt x="694069" y="609519"/>
                </a:lnTo>
                <a:lnTo>
                  <a:pt x="0" y="6095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grpSp>
        <p:nvGrpSpPr>
          <p:cNvPr id="49" name="Group 49"/>
          <p:cNvGrpSpPr/>
          <p:nvPr/>
        </p:nvGrpSpPr>
        <p:grpSpPr>
          <a:xfrm rot="-10800000">
            <a:off x="5730050" y="3939678"/>
            <a:ext cx="105108" cy="142003"/>
            <a:chOff x="0" y="0"/>
            <a:chExt cx="199550" cy="26959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99517" cy="269494"/>
            </a:xfrm>
            <a:custGeom>
              <a:avLst/>
              <a:gdLst/>
              <a:ahLst/>
              <a:cxnLst/>
              <a:rect l="l" t="t" r="r" b="b"/>
              <a:pathLst>
                <a:path w="199517" h="269494">
                  <a:moveTo>
                    <a:pt x="199517" y="0"/>
                  </a:moveTo>
                  <a:lnTo>
                    <a:pt x="0" y="134747"/>
                  </a:lnTo>
                  <a:lnTo>
                    <a:pt x="199517" y="269494"/>
                  </a:lnTo>
                  <a:lnTo>
                    <a:pt x="199517" y="0"/>
                  </a:lnTo>
                  <a:close/>
                </a:path>
              </a:pathLst>
            </a:custGeom>
            <a:solidFill>
              <a:srgbClr val="BF2026"/>
            </a:solidFill>
          </p:spPr>
          <p:txBody>
            <a:bodyPr/>
            <a:lstStyle/>
            <a:p>
              <a:endParaRPr lang="pt-BR" sz="900"/>
            </a:p>
          </p:txBody>
        </p:sp>
      </p:grpSp>
      <p:sp>
        <p:nvSpPr>
          <p:cNvPr id="51" name="Freeform 51"/>
          <p:cNvSpPr/>
          <p:nvPr/>
        </p:nvSpPr>
        <p:spPr>
          <a:xfrm>
            <a:off x="4376929" y="4144426"/>
            <a:ext cx="359689" cy="359689"/>
          </a:xfrm>
          <a:custGeom>
            <a:avLst/>
            <a:gdLst/>
            <a:ahLst/>
            <a:cxnLst/>
            <a:rect l="l" t="t" r="r" b="b"/>
            <a:pathLst>
              <a:path w="719378" h="719378">
                <a:moveTo>
                  <a:pt x="0" y="0"/>
                </a:moveTo>
                <a:lnTo>
                  <a:pt x="719378" y="0"/>
                </a:lnTo>
                <a:lnTo>
                  <a:pt x="719378" y="719378"/>
                </a:lnTo>
                <a:lnTo>
                  <a:pt x="0" y="71937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52" name="Freeform 52"/>
          <p:cNvSpPr/>
          <p:nvPr/>
        </p:nvSpPr>
        <p:spPr>
          <a:xfrm>
            <a:off x="8005256" y="2677267"/>
            <a:ext cx="384445" cy="304760"/>
          </a:xfrm>
          <a:custGeom>
            <a:avLst/>
            <a:gdLst/>
            <a:ahLst/>
            <a:cxnLst/>
            <a:rect l="l" t="t" r="r" b="b"/>
            <a:pathLst>
              <a:path w="768889" h="609519">
                <a:moveTo>
                  <a:pt x="0" y="0"/>
                </a:moveTo>
                <a:lnTo>
                  <a:pt x="768889" y="0"/>
                </a:lnTo>
                <a:lnTo>
                  <a:pt x="768889" y="609519"/>
                </a:lnTo>
                <a:lnTo>
                  <a:pt x="0" y="60951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53" name="Freeform 53"/>
          <p:cNvSpPr/>
          <p:nvPr/>
        </p:nvSpPr>
        <p:spPr>
          <a:xfrm>
            <a:off x="4817252" y="2280690"/>
            <a:ext cx="471352" cy="258065"/>
          </a:xfrm>
          <a:custGeom>
            <a:avLst/>
            <a:gdLst/>
            <a:ahLst/>
            <a:cxnLst/>
            <a:rect l="l" t="t" r="r" b="b"/>
            <a:pathLst>
              <a:path w="942703" h="516130">
                <a:moveTo>
                  <a:pt x="0" y="0"/>
                </a:moveTo>
                <a:lnTo>
                  <a:pt x="942702" y="0"/>
                </a:lnTo>
                <a:lnTo>
                  <a:pt x="942702" y="516130"/>
                </a:lnTo>
                <a:lnTo>
                  <a:pt x="0" y="51613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54" name="Freeform 54"/>
          <p:cNvSpPr/>
          <p:nvPr/>
        </p:nvSpPr>
        <p:spPr>
          <a:xfrm>
            <a:off x="9006797" y="3439843"/>
            <a:ext cx="371562" cy="506388"/>
          </a:xfrm>
          <a:custGeom>
            <a:avLst/>
            <a:gdLst/>
            <a:ahLst/>
            <a:cxnLst/>
            <a:rect l="l" t="t" r="r" b="b"/>
            <a:pathLst>
              <a:path w="743123" h="1012775">
                <a:moveTo>
                  <a:pt x="0" y="0"/>
                </a:moveTo>
                <a:lnTo>
                  <a:pt x="743124" y="0"/>
                </a:lnTo>
                <a:lnTo>
                  <a:pt x="743124" y="1012774"/>
                </a:lnTo>
                <a:lnTo>
                  <a:pt x="0" y="101277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55" name="Freeform 55"/>
          <p:cNvSpPr/>
          <p:nvPr/>
        </p:nvSpPr>
        <p:spPr>
          <a:xfrm>
            <a:off x="2948507" y="4139758"/>
            <a:ext cx="288404" cy="213780"/>
          </a:xfrm>
          <a:custGeom>
            <a:avLst/>
            <a:gdLst/>
            <a:ahLst/>
            <a:cxnLst/>
            <a:rect l="l" t="t" r="r" b="b"/>
            <a:pathLst>
              <a:path w="576808" h="427559">
                <a:moveTo>
                  <a:pt x="0" y="0"/>
                </a:moveTo>
                <a:lnTo>
                  <a:pt x="576808" y="0"/>
                </a:lnTo>
                <a:lnTo>
                  <a:pt x="576808" y="427559"/>
                </a:lnTo>
                <a:lnTo>
                  <a:pt x="0" y="42755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56" name="AutoShape 56"/>
          <p:cNvSpPr/>
          <p:nvPr/>
        </p:nvSpPr>
        <p:spPr>
          <a:xfrm flipV="1">
            <a:off x="8518016" y="2252334"/>
            <a:ext cx="860342" cy="1418572"/>
          </a:xfrm>
          <a:prstGeom prst="line">
            <a:avLst/>
          </a:prstGeom>
          <a:ln w="47625" cap="flat">
            <a:solidFill>
              <a:srgbClr val="27A6D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900"/>
          </a:p>
        </p:txBody>
      </p:sp>
      <p:sp>
        <p:nvSpPr>
          <p:cNvPr id="57" name="AutoShape 57"/>
          <p:cNvSpPr/>
          <p:nvPr/>
        </p:nvSpPr>
        <p:spPr>
          <a:xfrm>
            <a:off x="8498967" y="4392209"/>
            <a:ext cx="1069079" cy="1244454"/>
          </a:xfrm>
          <a:prstGeom prst="line">
            <a:avLst/>
          </a:prstGeom>
          <a:ln w="47625" cap="flat">
            <a:solidFill>
              <a:srgbClr val="27A6D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900"/>
          </a:p>
        </p:txBody>
      </p:sp>
      <p:sp>
        <p:nvSpPr>
          <p:cNvPr id="58" name="Freeform 58"/>
          <p:cNvSpPr/>
          <p:nvPr/>
        </p:nvSpPr>
        <p:spPr>
          <a:xfrm>
            <a:off x="2567413" y="4028657"/>
            <a:ext cx="525297" cy="227848"/>
          </a:xfrm>
          <a:custGeom>
            <a:avLst/>
            <a:gdLst/>
            <a:ahLst/>
            <a:cxnLst/>
            <a:rect l="l" t="t" r="r" b="b"/>
            <a:pathLst>
              <a:path w="1050593" h="455695">
                <a:moveTo>
                  <a:pt x="0" y="0"/>
                </a:moveTo>
                <a:lnTo>
                  <a:pt x="1050593" y="0"/>
                </a:lnTo>
                <a:lnTo>
                  <a:pt x="1050593" y="455695"/>
                </a:lnTo>
                <a:lnTo>
                  <a:pt x="0" y="45569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900"/>
          </a:p>
        </p:txBody>
      </p:sp>
      <p:sp>
        <p:nvSpPr>
          <p:cNvPr id="59" name="TextBox 59"/>
          <p:cNvSpPr txBox="1"/>
          <p:nvPr/>
        </p:nvSpPr>
        <p:spPr>
          <a:xfrm>
            <a:off x="7786609" y="4904992"/>
            <a:ext cx="712359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800" spc="-32">
                <a:solidFill>
                  <a:srgbClr val="27A6DF"/>
                </a:solidFill>
                <a:latin typeface="Arimo Bold"/>
              </a:rPr>
              <a:t>Dores</a:t>
            </a:r>
          </a:p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800" spc="-32">
                <a:solidFill>
                  <a:srgbClr val="27A6DF"/>
                </a:solidFill>
                <a:latin typeface="Arimo Bold"/>
              </a:rPr>
              <a:t>do Cliente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805659" y="3026666"/>
            <a:ext cx="712359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800" spc="-32">
                <a:solidFill>
                  <a:srgbClr val="27A6DF"/>
                </a:solidFill>
                <a:latin typeface="Arimo Bold"/>
              </a:rPr>
              <a:t>Ganhos</a:t>
            </a:r>
          </a:p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800" spc="-32">
                <a:solidFill>
                  <a:srgbClr val="27A6DF"/>
                </a:solidFill>
                <a:latin typeface="Arimo Bold"/>
              </a:rPr>
              <a:t>do Cliente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828455" y="4020734"/>
            <a:ext cx="712359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pt-BR" sz="800" spc="-32">
                <a:solidFill>
                  <a:srgbClr val="27A6DF"/>
                </a:solidFill>
                <a:latin typeface="Arimo Bold"/>
              </a:rPr>
              <a:t>Tarefas</a:t>
            </a:r>
          </a:p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pt-BR" sz="800" spc="-32">
                <a:solidFill>
                  <a:srgbClr val="27A6DF"/>
                </a:solidFill>
                <a:latin typeface="Arimo Bold"/>
              </a:rPr>
              <a:t>do Cliente</a:t>
            </a:r>
          </a:p>
        </p:txBody>
      </p:sp>
      <p:grpSp>
        <p:nvGrpSpPr>
          <p:cNvPr id="62" name="Group 62"/>
          <p:cNvGrpSpPr/>
          <p:nvPr/>
        </p:nvGrpSpPr>
        <p:grpSpPr>
          <a:xfrm rot="-145709">
            <a:off x="6273700" y="3923738"/>
            <a:ext cx="105108" cy="142003"/>
            <a:chOff x="0" y="0"/>
            <a:chExt cx="199550" cy="2695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99517" cy="269494"/>
            </a:xfrm>
            <a:custGeom>
              <a:avLst/>
              <a:gdLst/>
              <a:ahLst/>
              <a:cxnLst/>
              <a:rect l="l" t="t" r="r" b="b"/>
              <a:pathLst>
                <a:path w="199517" h="269494">
                  <a:moveTo>
                    <a:pt x="199517" y="0"/>
                  </a:moveTo>
                  <a:lnTo>
                    <a:pt x="0" y="134747"/>
                  </a:lnTo>
                  <a:lnTo>
                    <a:pt x="199517" y="269494"/>
                  </a:lnTo>
                  <a:lnTo>
                    <a:pt x="199517" y="0"/>
                  </a:lnTo>
                  <a:close/>
                </a:path>
              </a:pathLst>
            </a:custGeom>
            <a:solidFill>
              <a:srgbClr val="27A6DF"/>
            </a:solidFill>
          </p:spPr>
          <p:txBody>
            <a:bodyPr/>
            <a:lstStyle/>
            <a:p>
              <a:endParaRPr lang="pt-BR" sz="90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190281" y="3036191"/>
            <a:ext cx="950652" cy="286420"/>
            <a:chOff x="0" y="0"/>
            <a:chExt cx="500755" cy="15087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90C149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335517" y="2534057"/>
            <a:ext cx="950652" cy="286420"/>
            <a:chOff x="0" y="0"/>
            <a:chExt cx="500755" cy="15087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90C149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2508171" y="2098430"/>
            <a:ext cx="950652" cy="297114"/>
            <a:chOff x="0" y="0"/>
            <a:chExt cx="500755" cy="15650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00755" cy="156504"/>
            </a:xfrm>
            <a:custGeom>
              <a:avLst/>
              <a:gdLst/>
              <a:ahLst/>
              <a:cxnLst/>
              <a:rect l="l" t="t" r="r" b="b"/>
              <a:pathLst>
                <a:path w="500755" h="156504">
                  <a:moveTo>
                    <a:pt x="78252" y="0"/>
                  </a:moveTo>
                  <a:lnTo>
                    <a:pt x="422503" y="0"/>
                  </a:lnTo>
                  <a:cubicBezTo>
                    <a:pt x="465720" y="0"/>
                    <a:pt x="500755" y="35035"/>
                    <a:pt x="500755" y="78252"/>
                  </a:cubicBezTo>
                  <a:lnTo>
                    <a:pt x="500755" y="78252"/>
                  </a:lnTo>
                  <a:cubicBezTo>
                    <a:pt x="500755" y="99006"/>
                    <a:pt x="492511" y="118910"/>
                    <a:pt x="477836" y="133585"/>
                  </a:cubicBezTo>
                  <a:cubicBezTo>
                    <a:pt x="463160" y="148260"/>
                    <a:pt x="443257" y="156504"/>
                    <a:pt x="422503" y="156504"/>
                  </a:cubicBezTo>
                  <a:lnTo>
                    <a:pt x="78252" y="156504"/>
                  </a:lnTo>
                  <a:cubicBezTo>
                    <a:pt x="57498" y="156504"/>
                    <a:pt x="37595" y="148260"/>
                    <a:pt x="22920" y="133585"/>
                  </a:cubicBezTo>
                  <a:cubicBezTo>
                    <a:pt x="8244" y="118910"/>
                    <a:pt x="0" y="99006"/>
                    <a:pt x="0" y="78252"/>
                  </a:cubicBezTo>
                  <a:lnTo>
                    <a:pt x="0" y="78252"/>
                  </a:lnTo>
                  <a:cubicBezTo>
                    <a:pt x="0" y="57498"/>
                    <a:pt x="8244" y="37595"/>
                    <a:pt x="22920" y="22920"/>
                  </a:cubicBezTo>
                  <a:cubicBezTo>
                    <a:pt x="37595" y="8244"/>
                    <a:pt x="57498" y="0"/>
                    <a:pt x="78252" y="0"/>
                  </a:cubicBezTo>
                  <a:close/>
                </a:path>
              </a:pathLst>
            </a:custGeom>
            <a:solidFill>
              <a:srgbClr val="90C149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9525"/>
              <a:ext cx="500755" cy="14697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sp>
        <p:nvSpPr>
          <p:cNvPr id="73" name="AutoShape 73"/>
          <p:cNvSpPr/>
          <p:nvPr/>
        </p:nvSpPr>
        <p:spPr>
          <a:xfrm>
            <a:off x="6378856" y="3995167"/>
            <a:ext cx="1452635" cy="11821"/>
          </a:xfrm>
          <a:prstGeom prst="line">
            <a:avLst/>
          </a:prstGeom>
          <a:ln w="38100" cap="flat">
            <a:solidFill>
              <a:srgbClr val="27A6D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900"/>
          </a:p>
        </p:txBody>
      </p:sp>
      <p:grpSp>
        <p:nvGrpSpPr>
          <p:cNvPr id="74" name="Group 74"/>
          <p:cNvGrpSpPr/>
          <p:nvPr/>
        </p:nvGrpSpPr>
        <p:grpSpPr>
          <a:xfrm>
            <a:off x="4736617" y="3499997"/>
            <a:ext cx="950652" cy="286420"/>
            <a:chOff x="0" y="0"/>
            <a:chExt cx="500755" cy="15087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90C149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206799" y="4867962"/>
            <a:ext cx="950652" cy="286420"/>
            <a:chOff x="0" y="0"/>
            <a:chExt cx="500755" cy="15087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CD3333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206799" y="5507660"/>
            <a:ext cx="950652" cy="286420"/>
            <a:chOff x="0" y="0"/>
            <a:chExt cx="500755" cy="150871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CD3333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4601915" y="5507660"/>
            <a:ext cx="950652" cy="286420"/>
            <a:chOff x="0" y="0"/>
            <a:chExt cx="500755" cy="150871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CD3333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4601915" y="4867962"/>
            <a:ext cx="950652" cy="286420"/>
            <a:chOff x="0" y="0"/>
            <a:chExt cx="500755" cy="150871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CD3333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714957" y="2870613"/>
            <a:ext cx="771455" cy="374996"/>
            <a:chOff x="0" y="0"/>
            <a:chExt cx="491699" cy="150871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91699" cy="150871"/>
            </a:xfrm>
            <a:custGeom>
              <a:avLst/>
              <a:gdLst/>
              <a:ahLst/>
              <a:cxnLst/>
              <a:rect l="l" t="t" r="r" b="b"/>
              <a:pathLst>
                <a:path w="491699" h="150871">
                  <a:moveTo>
                    <a:pt x="75436" y="0"/>
                  </a:moveTo>
                  <a:lnTo>
                    <a:pt x="416263" y="0"/>
                  </a:lnTo>
                  <a:cubicBezTo>
                    <a:pt x="436270" y="0"/>
                    <a:pt x="455457" y="7948"/>
                    <a:pt x="469604" y="22095"/>
                  </a:cubicBezTo>
                  <a:cubicBezTo>
                    <a:pt x="483751" y="36242"/>
                    <a:pt x="491699" y="55429"/>
                    <a:pt x="491699" y="75436"/>
                  </a:cubicBezTo>
                  <a:lnTo>
                    <a:pt x="491699" y="75436"/>
                  </a:lnTo>
                  <a:cubicBezTo>
                    <a:pt x="491699" y="95442"/>
                    <a:pt x="483751" y="114630"/>
                    <a:pt x="469604" y="128777"/>
                  </a:cubicBezTo>
                  <a:cubicBezTo>
                    <a:pt x="455457" y="142924"/>
                    <a:pt x="436270" y="150871"/>
                    <a:pt x="416263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EEBA4A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9525"/>
              <a:ext cx="491699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660951" y="3525356"/>
            <a:ext cx="950652" cy="286420"/>
            <a:chOff x="0" y="0"/>
            <a:chExt cx="500755" cy="15087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EEBA4A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660951" y="4353538"/>
            <a:ext cx="950652" cy="286420"/>
            <a:chOff x="0" y="0"/>
            <a:chExt cx="500755" cy="150871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EEBA4A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660951" y="4952282"/>
            <a:ext cx="950652" cy="286420"/>
            <a:chOff x="0" y="0"/>
            <a:chExt cx="500755" cy="150871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00755" cy="150871"/>
            </a:xfrm>
            <a:custGeom>
              <a:avLst/>
              <a:gdLst/>
              <a:ahLst/>
              <a:cxnLst/>
              <a:rect l="l" t="t" r="r" b="b"/>
              <a:pathLst>
                <a:path w="500755" h="150871">
                  <a:moveTo>
                    <a:pt x="75436" y="0"/>
                  </a:moveTo>
                  <a:lnTo>
                    <a:pt x="425319" y="0"/>
                  </a:lnTo>
                  <a:cubicBezTo>
                    <a:pt x="445326" y="0"/>
                    <a:pt x="464514" y="7948"/>
                    <a:pt x="478661" y="22095"/>
                  </a:cubicBezTo>
                  <a:cubicBezTo>
                    <a:pt x="492807" y="36242"/>
                    <a:pt x="500755" y="55429"/>
                    <a:pt x="500755" y="75436"/>
                  </a:cubicBezTo>
                  <a:lnTo>
                    <a:pt x="500755" y="75436"/>
                  </a:lnTo>
                  <a:cubicBezTo>
                    <a:pt x="500755" y="95442"/>
                    <a:pt x="492807" y="114630"/>
                    <a:pt x="478661" y="128777"/>
                  </a:cubicBezTo>
                  <a:cubicBezTo>
                    <a:pt x="464514" y="142924"/>
                    <a:pt x="445326" y="150871"/>
                    <a:pt x="425319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EEBA4A"/>
            </a:solidFill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9525"/>
              <a:ext cx="500755" cy="1413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40"/>
                </a:lnSpc>
              </a:pPr>
              <a:endParaRPr sz="900"/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2747331" y="4367226"/>
            <a:ext cx="472335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800" spc="-32">
                <a:solidFill>
                  <a:srgbClr val="C02026"/>
                </a:solidFill>
                <a:latin typeface="Arimo Bold"/>
              </a:rPr>
              <a:t>Produtos e Serviços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836380" y="4180214"/>
            <a:ext cx="472335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800" spc="-32">
                <a:solidFill>
                  <a:srgbClr val="C02026"/>
                </a:solidFill>
                <a:latin typeface="Arimo Bold"/>
              </a:rPr>
              <a:t>Aliviam as Dores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836380" y="2529229"/>
            <a:ext cx="472335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800" spc="-32">
                <a:solidFill>
                  <a:srgbClr val="C02026"/>
                </a:solidFill>
                <a:latin typeface="Arimo Bold"/>
              </a:rPr>
              <a:t>Criadores de Ganho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684406" y="2150053"/>
            <a:ext cx="60884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Criador 1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3502217" y="2582017"/>
            <a:ext cx="655234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Criador 2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361755" y="3080832"/>
            <a:ext cx="620843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Criador 3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703512" y="2874905"/>
            <a:ext cx="729178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Produto físico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912853" y="3547957"/>
            <a:ext cx="639715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Criador 4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737545" y="3577067"/>
            <a:ext cx="765821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Intangível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383034" y="4915922"/>
            <a:ext cx="59818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Alívio 1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742307" y="4401498"/>
            <a:ext cx="765821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Digital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4778150" y="4909755"/>
            <a:ext cx="59818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Alívio 2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3363468" y="5555620"/>
            <a:ext cx="59818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Alívio 3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778150" y="5555620"/>
            <a:ext cx="59818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Alívio 4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715455" y="1821889"/>
            <a:ext cx="84829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Ganhos necessários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742307" y="5009674"/>
            <a:ext cx="765821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Financeiros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6814860" y="2290214"/>
            <a:ext cx="59818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Esperados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266965" y="2734397"/>
            <a:ext cx="59818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>
                <a:solidFill>
                  <a:srgbClr val="FFFFFF"/>
                </a:solidFill>
                <a:latin typeface="Arimo"/>
              </a:rPr>
              <a:t>Desejados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951985" y="3430106"/>
            <a:ext cx="739333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Inesperados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502229" y="5374645"/>
            <a:ext cx="625806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Problemas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6094554" y="4492134"/>
            <a:ext cx="72152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spc="-48" dirty="0">
                <a:solidFill>
                  <a:srgbClr val="FFFFFF"/>
                </a:solidFill>
                <a:latin typeface="Arimo"/>
              </a:rPr>
              <a:t>Resultados </a:t>
            </a: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negativos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273662" y="5824542"/>
            <a:ext cx="766554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Obstáculos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640598" y="5824542"/>
            <a:ext cx="767771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Riscos</a:t>
            </a:r>
            <a:r>
              <a:rPr lang="pt-BR" sz="1200" spc="-48" dirty="0">
                <a:solidFill>
                  <a:srgbClr val="FFFFFF"/>
                </a:solidFill>
                <a:latin typeface="Arimo"/>
              </a:rPr>
              <a:t> reais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9758175" y="2781896"/>
            <a:ext cx="76582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Tarefas funcionais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9665758" y="4780740"/>
            <a:ext cx="848712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Necessidades básicas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9788408" y="4184733"/>
            <a:ext cx="70535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Emocionais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9788409" y="3546880"/>
            <a:ext cx="765821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pt-BR" sz="1200" b="1" spc="-48" dirty="0">
                <a:solidFill>
                  <a:srgbClr val="FFFFFF"/>
                </a:solidFill>
                <a:latin typeface="Arimo"/>
              </a:rPr>
              <a:t>Sociais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62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Arimo</vt:lpstr>
      <vt:lpstr>Arimo Bold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Empreendedorismo criação de um negócio</dc:title>
  <dc:creator>Vanise Rafaela Zivieri Ralio</dc:creator>
  <cp:lastModifiedBy>Vanise Rafaela Zivieri Ralio</cp:lastModifiedBy>
  <cp:revision>14</cp:revision>
  <cp:lastPrinted>2025-08-22T01:06:54Z</cp:lastPrinted>
  <dcterms:created xsi:type="dcterms:W3CDTF">2025-08-21T22:30:38Z</dcterms:created>
  <dcterms:modified xsi:type="dcterms:W3CDTF">2026-09-03T13:14:37Z</dcterms:modified>
</cp:coreProperties>
</file>