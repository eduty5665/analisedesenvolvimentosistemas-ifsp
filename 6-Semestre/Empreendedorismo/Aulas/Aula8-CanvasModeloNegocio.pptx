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</p:sldMasterIdLst>
  <p:sldIdLst>
    <p:sldId id="267" r:id="rId3"/>
    <p:sldId id="260" r:id="rId4"/>
    <p:sldId id="256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731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821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61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534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663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7137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4487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4563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233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383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8995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7052BCF0-54F9-4EE2-8EF0-82F3BBD4E9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09DA050C-84B3-4F90-B9C0-11180F744A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75163" y="1241425"/>
            <a:ext cx="4006850" cy="3883025"/>
          </a:xfrm>
          <a:prstGeom prst="rect">
            <a:avLst/>
          </a:prstGeom>
          <a:solidFill>
            <a:schemeClr val="tx1">
              <a:alpha val="50980"/>
            </a:schemeClr>
          </a:solidFill>
          <a:ln>
            <a:noFill/>
          </a:ln>
          <a:effectLst>
            <a:outerShdw blurRad="50800" dist="38100" dir="5400000" algn="t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1A5D7683-2C6C-4FED-B424-F2A45A29A2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54563" y="1949450"/>
            <a:ext cx="3446462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pt-BR" sz="2800" b="1">
                <a:solidFill>
                  <a:schemeClr val="bg1"/>
                </a:solidFill>
              </a:rPr>
              <a:t>TEMPLATE PARA O MODELO CANVAS</a:t>
            </a:r>
            <a:endParaRPr lang="en-US" altLang="pt-BR">
              <a:solidFill>
                <a:schemeClr val="bg1"/>
              </a:solidFill>
            </a:endParaRPr>
          </a:p>
          <a:p>
            <a:endParaRPr lang="en-US" altLang="pt-BR">
              <a:solidFill>
                <a:schemeClr val="bg1"/>
              </a:solidFill>
            </a:endParaRPr>
          </a:p>
          <a:p>
            <a:endParaRPr lang="en-US" altLang="pt-BR">
              <a:solidFill>
                <a:schemeClr val="bg1"/>
              </a:solidFill>
            </a:endParaRPr>
          </a:p>
          <a:p>
            <a:r>
              <a:rPr lang="en-US" altLang="pt-BR">
                <a:solidFill>
                  <a:schemeClr val="bg1"/>
                </a:solidFill>
              </a:rPr>
              <a:t>AUTOR: Thiago Paiva</a:t>
            </a:r>
          </a:p>
          <a:p>
            <a:r>
              <a:rPr lang="en-US" altLang="pt-BR">
                <a:solidFill>
                  <a:schemeClr val="bg1"/>
                </a:solidFill>
              </a:rPr>
              <a:t>TWITTER: @ThiagoPaiva</a:t>
            </a:r>
          </a:p>
          <a:p>
            <a:r>
              <a:rPr lang="en-US" altLang="pt-BR">
                <a:solidFill>
                  <a:schemeClr val="bg1"/>
                </a:solidFill>
              </a:rPr>
              <a:t>BLOG: </a:t>
            </a:r>
            <a:r>
              <a:rPr lang="en-US" altLang="pt-BR" u="sng">
                <a:solidFill>
                  <a:srgbClr val="8EB4E3"/>
                </a:solidFill>
              </a:rPr>
              <a:t>www.StartupBizModel.com</a:t>
            </a:r>
          </a:p>
        </p:txBody>
      </p:sp>
    </p:spTree>
    <p:extLst>
      <p:ext uri="{BB962C8B-B14F-4D97-AF65-F5344CB8AC3E}">
        <p14:creationId xmlns:p14="http://schemas.microsoft.com/office/powerpoint/2010/main" val="593026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C58E1-9916-431E-BD54-E00B6E8B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AADEAC-BA6D-481B-92E2-7C00DE478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7051BC-9DE7-4C41-A5FB-59FD703F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70C21F-801D-4BB9-904F-D5C60A3E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EE3B18-4692-4E21-A8DF-C94E18CE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80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38EAD-C399-4B52-9C67-67BFC062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63F1C5-B8F2-4633-BF9E-346C4A8F5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B1F742-21A5-4CE1-A49E-8FEC5A03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E98065-66D2-4C0E-9BE6-9693E38D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9ED32E-27E3-4D47-ADF9-DDE015D3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97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7E373-77B5-4DD1-926D-45663561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0B31F5-A2B5-4F14-B441-D52DDAA60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42566C-581E-451F-8C2C-C36A8D74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C4C2BF-3928-4BE4-BBCF-81D5C02C6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D8E325-22A9-4279-9325-FA379010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226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77D4E-86EA-457A-A4F0-C31A0B03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13E888-D0F8-4DE8-ADBF-CA3304D4A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AFD3F9-2B6E-4E40-95F9-CE6A26649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2E835F-8C7A-4B5C-ADD9-4B13BD0E5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370FE9-A520-42E5-B8D7-660F14B0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6888B8-3A1E-46DF-A2AC-46C2C2C9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8846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EA957-9052-4D0F-AC3B-CC2B49CA0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A2A511-FFE4-4676-95C5-C982581F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CFB083-8C65-471C-8305-E63C65CD1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67973D-4E2C-444A-8707-B2111A860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61A977A-9EF6-4BBB-B34F-EA4EBEAF7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5281B4B-FAA9-48B4-9C20-62F8E427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6D3CF2-5117-422A-9B48-630EDDEC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A3C2E87-31C7-466C-96AE-144E859E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4176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3D617-4C79-4E9F-A957-7665E25E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A25826-48AE-4464-88C0-A1F01118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6CF3DE-F336-4DA3-90FF-48669B30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F8028C-1819-442E-BE07-D4549A63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119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86CECA-39DC-4C32-8016-C02CE2F6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26CFAFD-3D04-4B02-BBE1-D1557A7A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C01A6E-06D9-4765-B06E-F7D642E6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996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97105-46E6-40E3-9590-DB0E03ED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D4DEE-C540-4E5F-A219-41885087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E40E44-392D-4275-9630-30B4C5DC2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2F7B77-C75B-49BD-81DF-5519C316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B6131B-3B77-4F82-9CBA-FBE36307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563612-B6C2-4B52-870B-F0B26F52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63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EA526-ABBB-4C62-9CC3-BBE2895E6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1F66F5-AAA2-4D78-9182-A99F37FE0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D5AD8C-8021-41FD-A56B-8B30726CF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517378-05E8-4D45-B349-1E1B8D14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6FD397-57E7-49A1-AE34-1AB0BEA7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48C9E0-07CC-47C0-8B2B-F5BE356C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198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76A4E-E7CA-46DE-8082-83A824A7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DA8DD9-F45F-458E-9A02-483CA28D6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5D9299-5943-4D5C-88B2-C502C87D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EF538C-9828-4AD3-89A6-422280AD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8DA505-473D-43FF-8837-8F11771E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247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9956F3-CECE-4EA6-BC63-601C9FEBB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9EEADB-16AE-442C-A849-624B270EF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A822CC-84BC-4E93-90A7-3528870DB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0A7C9C-C21E-491C-A87F-762CA694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7E7880-1CA0-4EE0-815F-A4229585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82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hyperlink" Target="startupbizmode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3A8EDE3-D215-4D55-B626-528119BB4B2C}" type="datetimeFigureOut">
              <a:rPr lang="en-US" altLang="pt-BR" smtClean="0"/>
              <a:pPr/>
              <a:t>10/1/2026</a:t>
            </a:fld>
            <a:endParaRPr lang="en-US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8360C964-E673-46F0-9DA4-005DE23295C1}" type="slidenum">
              <a:rPr lang="en-US" altLang="pt-BR" smtClean="0"/>
              <a:pPr/>
              <a:t>‹nº›</a:t>
            </a:fld>
            <a:endParaRPr lang="en-US" altLang="pt-BR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4F67BDD0-994C-4A0C-9504-D63319E8C1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1950" y="165100"/>
            <a:ext cx="3273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>
                <a:latin typeface="Verdana" panose="020B0604030504040204" pitchFamily="34" charset="0"/>
              </a:rPr>
              <a:t> </a:t>
            </a:r>
            <a:r>
              <a:rPr lang="pt-BR" altLang="pt-BR">
                <a:latin typeface="Verdana" panose="020B0604030504040204" pitchFamily="34" charset="0"/>
                <a:hlinkClick r:id="rId16" action="ppaction://hlinkfile"/>
              </a:rPr>
              <a:t>startupbizmodel.com</a:t>
            </a:r>
            <a:endParaRPr lang="pt-BR" altLang="pt-BR" u="sng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2B564C64-CDEE-4D1A-BED8-844D1981630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68275"/>
            <a:ext cx="3603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133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8E31060-D3A9-4AEB-AB71-1D224C65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6E2B3-951F-480D-80CC-8F9B5212F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FAD0B5-CFAC-43CB-892C-6028E758D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BA47C-5D3D-4070-A26A-6B8AA6C41A01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D4994-87DF-48FE-B3BA-F70BF2E4A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4AF6B1-B9F8-47A8-896E-06B86A0A6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FDC2B-63CE-4B66-ADDE-9EE48CBE34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220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5" name="Grupo 12">
            <a:extLst>
              <a:ext uri="{FF2B5EF4-FFF2-40B4-BE49-F238E27FC236}">
                <a16:creationId xmlns:a16="http://schemas.microsoft.com/office/drawing/2014/main" id="{10093046-F808-42CC-A356-FE2312FBC810}"/>
              </a:ext>
            </a:extLst>
          </p:cNvPr>
          <p:cNvGrpSpPr>
            <a:grpSpLocks/>
          </p:cNvGrpSpPr>
          <p:nvPr/>
        </p:nvGrpSpPr>
        <p:grpSpPr bwMode="auto">
          <a:xfrm>
            <a:off x="0" y="620713"/>
            <a:ext cx="9144000" cy="6216650"/>
            <a:chOff x="251520" y="1152525"/>
            <a:chExt cx="8620125" cy="5314430"/>
          </a:xfrm>
        </p:grpSpPr>
        <p:pic>
          <p:nvPicPr>
            <p:cNvPr id="6165" name="Picture 2">
              <a:extLst>
                <a:ext uri="{FF2B5EF4-FFF2-40B4-BE49-F238E27FC236}">
                  <a16:creationId xmlns:a16="http://schemas.microsoft.com/office/drawing/2014/main" id="{F3D58E83-F56F-483D-99F0-133307648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1152525"/>
              <a:ext cx="8620125" cy="5314430"/>
            </a:xfrm>
            <a:prstGeom prst="rect">
              <a:avLst/>
            </a:prstGeom>
            <a:solidFill>
              <a:srgbClr val="FFF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66" name="CaixaDeTexto 3">
              <a:extLst>
                <a:ext uri="{FF2B5EF4-FFF2-40B4-BE49-F238E27FC236}">
                  <a16:creationId xmlns:a16="http://schemas.microsoft.com/office/drawing/2014/main" id="{F3F3D97A-A39A-4909-9EF3-AF57D1BF0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1340768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Parceiros Chave</a:t>
              </a:r>
            </a:p>
          </p:txBody>
        </p:sp>
        <p:sp>
          <p:nvSpPr>
            <p:cNvPr id="6167" name="CaixaDeTexto 4">
              <a:extLst>
                <a:ext uri="{FF2B5EF4-FFF2-40B4-BE49-F238E27FC236}">
                  <a16:creationId xmlns:a16="http://schemas.microsoft.com/office/drawing/2014/main" id="{62BF48E4-4986-4529-9C7D-79FAAA373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7744" y="1383159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Atividades Chave</a:t>
              </a:r>
            </a:p>
          </p:txBody>
        </p:sp>
        <p:sp>
          <p:nvSpPr>
            <p:cNvPr id="6168" name="CaixaDeTexto 5">
              <a:extLst>
                <a:ext uri="{FF2B5EF4-FFF2-40B4-BE49-F238E27FC236}">
                  <a16:creationId xmlns:a16="http://schemas.microsoft.com/office/drawing/2014/main" id="{00BA7C63-C915-46E6-9DBB-9FC61143B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736" y="3458787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Recursos Chave</a:t>
              </a:r>
            </a:p>
          </p:txBody>
        </p:sp>
        <p:sp>
          <p:nvSpPr>
            <p:cNvPr id="6169" name="CaixaDeTexto 6">
              <a:extLst>
                <a:ext uri="{FF2B5EF4-FFF2-40B4-BE49-F238E27FC236}">
                  <a16:creationId xmlns:a16="http://schemas.microsoft.com/office/drawing/2014/main" id="{C4B88044-9461-48A9-9B0E-0D8D871AD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60" y="5199583"/>
              <a:ext cx="8640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Estrutura de Custos</a:t>
              </a:r>
            </a:p>
          </p:txBody>
        </p:sp>
        <p:sp>
          <p:nvSpPr>
            <p:cNvPr id="6170" name="CaixaDeTexto 7">
              <a:extLst>
                <a:ext uri="{FF2B5EF4-FFF2-40B4-BE49-F238E27FC236}">
                  <a16:creationId xmlns:a16="http://schemas.microsoft.com/office/drawing/2014/main" id="{B3767A0D-6E23-48FF-9E5E-CB21305E9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32" y="5229200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Fontes de Receitas</a:t>
              </a:r>
            </a:p>
          </p:txBody>
        </p:sp>
        <p:sp>
          <p:nvSpPr>
            <p:cNvPr id="6171" name="CaixaDeTexto 8">
              <a:extLst>
                <a:ext uri="{FF2B5EF4-FFF2-40B4-BE49-F238E27FC236}">
                  <a16:creationId xmlns:a16="http://schemas.microsoft.com/office/drawing/2014/main" id="{3F8308A6-9B9E-4587-9F11-A06CE9C64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340768"/>
              <a:ext cx="8640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Proposta de Valor</a:t>
              </a:r>
            </a:p>
          </p:txBody>
        </p:sp>
        <p:sp>
          <p:nvSpPr>
            <p:cNvPr id="6172" name="CaixaDeTexto 9">
              <a:extLst>
                <a:ext uri="{FF2B5EF4-FFF2-40B4-BE49-F238E27FC236}">
                  <a16:creationId xmlns:a16="http://schemas.microsoft.com/office/drawing/2014/main" id="{735E4EA5-6E0D-4C70-9434-92C4EBE5A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096" y="1383159"/>
              <a:ext cx="12241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Relacionamento com Clientes</a:t>
              </a:r>
            </a:p>
          </p:txBody>
        </p:sp>
        <p:sp>
          <p:nvSpPr>
            <p:cNvPr id="6173" name="CaixaDeTexto 10">
              <a:extLst>
                <a:ext uri="{FF2B5EF4-FFF2-40B4-BE49-F238E27FC236}">
                  <a16:creationId xmlns:a16="http://schemas.microsoft.com/office/drawing/2014/main" id="{66C41AFB-AB7C-4C41-954C-0D47C5EB8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304" y="1340768"/>
              <a:ext cx="9361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Segmentos de Clientes</a:t>
              </a:r>
            </a:p>
          </p:txBody>
        </p:sp>
        <p:sp>
          <p:nvSpPr>
            <p:cNvPr id="6174" name="CaixaDeTexto 11">
              <a:extLst>
                <a:ext uri="{FF2B5EF4-FFF2-40B4-BE49-F238E27FC236}">
                  <a16:creationId xmlns:a16="http://schemas.microsoft.com/office/drawing/2014/main" id="{787B3467-EE69-4E3A-97C4-47BBAB5E9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112" y="3543399"/>
              <a:ext cx="86409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Canais</a:t>
              </a:r>
            </a:p>
          </p:txBody>
        </p:sp>
      </p:grpSp>
      <p:sp>
        <p:nvSpPr>
          <p:cNvPr id="6146" name="TextBox 78">
            <a:extLst>
              <a:ext uri="{FF2B5EF4-FFF2-40B4-BE49-F238E27FC236}">
                <a16:creationId xmlns:a16="http://schemas.microsoft.com/office/drawing/2014/main" id="{7641ADB1-450E-4A01-9221-CF7695714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6038"/>
            <a:ext cx="2740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pt-BR" dirty="0">
                <a:solidFill>
                  <a:srgbClr val="000000"/>
                </a:solidFill>
              </a:rPr>
              <a:t>DESCRIÇÃO DE CADA BLOCO</a:t>
            </a:r>
          </a:p>
        </p:txBody>
      </p:sp>
      <p:sp>
        <p:nvSpPr>
          <p:cNvPr id="30" name="Folded Corner 29">
            <a:extLst>
              <a:ext uri="{FF2B5EF4-FFF2-40B4-BE49-F238E27FC236}">
                <a16:creationId xmlns:a16="http://schemas.microsoft.com/office/drawing/2014/main" id="{7D080970-8DCA-413C-801A-E71832BB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89150"/>
            <a:ext cx="1725613" cy="2217738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48" name="CaixaDeTexto 9">
            <a:extLst>
              <a:ext uri="{FF2B5EF4-FFF2-40B4-BE49-F238E27FC236}">
                <a16:creationId xmlns:a16="http://schemas.microsoft.com/office/drawing/2014/main" id="{77E7D432-8038-47D5-B704-EBF0CB48F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" y="2408238"/>
            <a:ext cx="1951038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 dirty="0">
                <a:latin typeface="Handwriting - Dakota" pitchFamily="1" charset="0"/>
              </a:rPr>
              <a:t>São empresas, instituições e/ou pessoas que são importante para o funcionamento do modelo de negócios</a:t>
            </a:r>
          </a:p>
        </p:txBody>
      </p:sp>
      <p:sp>
        <p:nvSpPr>
          <p:cNvPr id="31" name="Folded Corner 30">
            <a:extLst>
              <a:ext uri="{FF2B5EF4-FFF2-40B4-BE49-F238E27FC236}">
                <a16:creationId xmlns:a16="http://schemas.microsoft.com/office/drawing/2014/main" id="{42D3F341-0F66-4750-AA75-FC5517F3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1441450"/>
            <a:ext cx="1763713" cy="1743075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50" name="CaixaDeTexto 9">
            <a:extLst>
              <a:ext uri="{FF2B5EF4-FFF2-40B4-BE49-F238E27FC236}">
                <a16:creationId xmlns:a16="http://schemas.microsoft.com/office/drawing/2014/main" id="{09CA189D-0BA0-4D27-BC73-30016AF19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611313"/>
            <a:ext cx="1763712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 dirty="0">
                <a:latin typeface="Handwriting - Dakota" pitchFamily="1" charset="0"/>
              </a:rPr>
              <a:t>São as atividades essenciais para o que o modelo de negócios da empresa funcione corretamente</a:t>
            </a:r>
          </a:p>
        </p:txBody>
      </p:sp>
      <p:sp>
        <p:nvSpPr>
          <p:cNvPr id="32" name="Folded Corner 31">
            <a:extLst>
              <a:ext uri="{FF2B5EF4-FFF2-40B4-BE49-F238E27FC236}">
                <a16:creationId xmlns:a16="http://schemas.microsoft.com/office/drawing/2014/main" id="{B55AE156-75A5-4A14-93B2-D6CC6A88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25" y="3736975"/>
            <a:ext cx="1763713" cy="1468438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52" name="CaixaDeTexto 9">
            <a:extLst>
              <a:ext uri="{FF2B5EF4-FFF2-40B4-BE49-F238E27FC236}">
                <a16:creationId xmlns:a16="http://schemas.microsoft.com/office/drawing/2014/main" id="{25A30DFE-0828-4B97-843F-DC8FF9960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075" y="3705225"/>
            <a:ext cx="18891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>
                <a:latin typeface="Handwriting - Dakota" pitchFamily="1" charset="0"/>
              </a:rPr>
              <a:t>São os principais recursos necessários para que uma empresa faça seu modelo de negócios funcionar</a:t>
            </a:r>
          </a:p>
        </p:txBody>
      </p:sp>
      <p:sp>
        <p:nvSpPr>
          <p:cNvPr id="33" name="Folded Corner 32">
            <a:extLst>
              <a:ext uri="{FF2B5EF4-FFF2-40B4-BE49-F238E27FC236}">
                <a16:creationId xmlns:a16="http://schemas.microsoft.com/office/drawing/2014/main" id="{48CE1CC5-257C-48D9-AFB7-F98D5CA24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0" y="2152650"/>
            <a:ext cx="1724025" cy="2217738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54" name="Rectangle 1">
            <a:extLst>
              <a:ext uri="{FF2B5EF4-FFF2-40B4-BE49-F238E27FC236}">
                <a16:creationId xmlns:a16="http://schemas.microsoft.com/office/drawing/2014/main" id="{7BBED653-AC68-44D0-B1D6-33326687B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2351088"/>
            <a:ext cx="1843088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 dirty="0">
                <a:latin typeface="Handwriting - Dakota" pitchFamily="1" charset="0"/>
              </a:rPr>
              <a:t>É a forma como a empresa cria valor para um determinado segmento de cliente e se diferencia da concorrência</a:t>
            </a:r>
          </a:p>
        </p:txBody>
      </p:sp>
      <p:sp>
        <p:nvSpPr>
          <p:cNvPr id="34" name="Folded Corner 33">
            <a:extLst>
              <a:ext uri="{FF2B5EF4-FFF2-40B4-BE49-F238E27FC236}">
                <a16:creationId xmlns:a16="http://schemas.microsoft.com/office/drawing/2014/main" id="{230C1AA9-81B4-4F7C-9AF2-8C8EDF074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363" y="1611313"/>
            <a:ext cx="1647825" cy="3295650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56" name="CaixaDeTexto 9">
            <a:extLst>
              <a:ext uri="{FF2B5EF4-FFF2-40B4-BE49-F238E27FC236}">
                <a16:creationId xmlns:a16="http://schemas.microsoft.com/office/drawing/2014/main" id="{BA93B514-8277-4FFA-A372-3A5972A78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813" y="1846263"/>
            <a:ext cx="176212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>
                <a:latin typeface="Handwriting - Dakota" pitchFamily="1" charset="0"/>
              </a:rPr>
              <a:t>São divisões dos clientes de acordo com suas necessidades, costumes ou outro atributo em comum, de forma que possam melhor entender, alcançar e servir esses clientes</a:t>
            </a:r>
          </a:p>
        </p:txBody>
      </p:sp>
      <p:sp>
        <p:nvSpPr>
          <p:cNvPr id="35" name="Folded Corner 34">
            <a:extLst>
              <a:ext uri="{FF2B5EF4-FFF2-40B4-BE49-F238E27FC236}">
                <a16:creationId xmlns:a16="http://schemas.microsoft.com/office/drawing/2014/main" id="{EC7D5790-1500-4AE0-A6B2-D7565560D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5867400"/>
            <a:ext cx="3824287" cy="809625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58" name="CaixaDeTexto 9">
            <a:extLst>
              <a:ext uri="{FF2B5EF4-FFF2-40B4-BE49-F238E27FC236}">
                <a16:creationId xmlns:a16="http://schemas.microsoft.com/office/drawing/2014/main" id="{FF0FDDEF-DFE8-4437-9E70-BE2DAE597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5922963"/>
            <a:ext cx="38385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>
                <a:latin typeface="Handwriting - Dakota" pitchFamily="1" charset="0"/>
              </a:rPr>
              <a:t>Descreve os os principais custos decorrente da operação do modelo de negócios</a:t>
            </a:r>
          </a:p>
        </p:txBody>
      </p:sp>
      <p:sp>
        <p:nvSpPr>
          <p:cNvPr id="36" name="Folded Corner 35">
            <a:extLst>
              <a:ext uri="{FF2B5EF4-FFF2-40B4-BE49-F238E27FC236}">
                <a16:creationId xmlns:a16="http://schemas.microsoft.com/office/drawing/2014/main" id="{8D1F410F-72E5-4121-AD31-BF64DFE00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050" y="5894388"/>
            <a:ext cx="4065588" cy="811212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60" name="CaixaDeTexto 9">
            <a:extLst>
              <a:ext uri="{FF2B5EF4-FFF2-40B4-BE49-F238E27FC236}">
                <a16:creationId xmlns:a16="http://schemas.microsoft.com/office/drawing/2014/main" id="{DC75011C-5BEA-4CC8-96B6-15198120E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8850" y="6024563"/>
            <a:ext cx="41910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>
                <a:latin typeface="Handwriting - Dakota" pitchFamily="1" charset="0"/>
              </a:rPr>
              <a:t>Descreve a forma como uma empresa gera receita através de cada segmento de cliente</a:t>
            </a:r>
          </a:p>
        </p:txBody>
      </p:sp>
      <p:sp>
        <p:nvSpPr>
          <p:cNvPr id="37" name="Folded Corner 36">
            <a:extLst>
              <a:ext uri="{FF2B5EF4-FFF2-40B4-BE49-F238E27FC236}">
                <a16:creationId xmlns:a16="http://schemas.microsoft.com/office/drawing/2014/main" id="{3564D91D-DB85-4391-ACDB-9736C5AC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5" y="1466850"/>
            <a:ext cx="1768475" cy="1387475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38" name="Folded Corner 37">
            <a:extLst>
              <a:ext uri="{FF2B5EF4-FFF2-40B4-BE49-F238E27FC236}">
                <a16:creationId xmlns:a16="http://schemas.microsoft.com/office/drawing/2014/main" id="{50EDE936-BB91-4A6F-89B2-BAFCA595A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088" y="3744913"/>
            <a:ext cx="1731962" cy="1244600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6163" name="CaixaDeTexto 9">
            <a:extLst>
              <a:ext uri="{FF2B5EF4-FFF2-40B4-BE49-F238E27FC236}">
                <a16:creationId xmlns:a16="http://schemas.microsoft.com/office/drawing/2014/main" id="{1E05E3A6-4AA1-429F-9E13-4BC4F76A3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3736975"/>
            <a:ext cx="175895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>
                <a:latin typeface="Handwriting - Dakota" pitchFamily="1" charset="0"/>
              </a:rPr>
              <a:t>É forma como uma empresa comunica e entrega a sua proposta de valor</a:t>
            </a:r>
            <a:endParaRPr lang="en-US" altLang="pt-BR" sz="1400">
              <a:latin typeface="Handwriting - Dakota" pitchFamily="1" charset="0"/>
            </a:endParaRPr>
          </a:p>
        </p:txBody>
      </p:sp>
      <p:sp>
        <p:nvSpPr>
          <p:cNvPr id="6164" name="CaixaDeTexto 9">
            <a:extLst>
              <a:ext uri="{FF2B5EF4-FFF2-40B4-BE49-F238E27FC236}">
                <a16:creationId xmlns:a16="http://schemas.microsoft.com/office/drawing/2014/main" id="{6F200328-90A4-4722-9FA8-0CBC8D357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788" y="1611313"/>
            <a:ext cx="17192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pt-BR" altLang="pt-BR" sz="1400">
                <a:latin typeface="Handwriting - Dakota" pitchFamily="1" charset="0"/>
              </a:rPr>
              <a:t>É a forma como a empresa interage com o cliente.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3">
            <a:extLst>
              <a:ext uri="{FF2B5EF4-FFF2-40B4-BE49-F238E27FC236}">
                <a16:creationId xmlns:a16="http://schemas.microsoft.com/office/drawing/2014/main" id="{DC9FC8B3-1588-4208-8B7C-E5BC254D9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3" y="5300663"/>
            <a:ext cx="2027238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TextBox 28">
            <a:extLst>
              <a:ext uri="{FF2B5EF4-FFF2-40B4-BE49-F238E27FC236}">
                <a16:creationId xmlns:a16="http://schemas.microsoft.com/office/drawing/2014/main" id="{EB403940-EFC7-4D81-9686-7A650F294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2108200"/>
            <a:ext cx="5665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pt-BR">
                <a:latin typeface="Verdana" panose="020B0604030504040204" pitchFamily="34" charset="0"/>
              </a:rPr>
              <a:t>Use post-its para facilitar mudanças</a:t>
            </a:r>
          </a:p>
        </p:txBody>
      </p:sp>
      <p:sp>
        <p:nvSpPr>
          <p:cNvPr id="8195" name="TextBox 1">
            <a:extLst>
              <a:ext uri="{FF2B5EF4-FFF2-40B4-BE49-F238E27FC236}">
                <a16:creationId xmlns:a16="http://schemas.microsoft.com/office/drawing/2014/main" id="{5AB99874-6E63-4B21-AAFD-8D4DF6586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3489325"/>
            <a:ext cx="63928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pt-BR">
                <a:latin typeface="Verdana" panose="020B0604030504040204" pitchFamily="34" charset="0"/>
              </a:rPr>
              <a:t>Use post-its de cores diferentes para diferenciar blocos relacionados com cada segmento de cliente</a:t>
            </a:r>
          </a:p>
        </p:txBody>
      </p:sp>
      <p:sp>
        <p:nvSpPr>
          <p:cNvPr id="8196" name="TextBox 4">
            <a:extLst>
              <a:ext uri="{FF2B5EF4-FFF2-40B4-BE49-F238E27FC236}">
                <a16:creationId xmlns:a16="http://schemas.microsoft.com/office/drawing/2014/main" id="{195F3E2E-EAA4-4CAD-B1A6-50613C8C7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4457700"/>
            <a:ext cx="6110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pt-BR">
                <a:latin typeface="Verdana" panose="020B0604030504040204" pitchFamily="34" charset="0"/>
              </a:rPr>
              <a:t>ESCREVA EM LETRAS MAIÚSCULAS E DE FORMA</a:t>
            </a:r>
          </a:p>
        </p:txBody>
      </p:sp>
      <p:sp>
        <p:nvSpPr>
          <p:cNvPr id="8197" name="TextBox 32">
            <a:extLst>
              <a:ext uri="{FF2B5EF4-FFF2-40B4-BE49-F238E27FC236}">
                <a16:creationId xmlns:a16="http://schemas.microsoft.com/office/drawing/2014/main" id="{D61660B1-4518-46F5-8E10-3700104D8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5148263"/>
            <a:ext cx="58594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pt-BR">
                <a:latin typeface="Verdana" panose="020B0604030504040204" pitchFamily="34" charset="0"/>
              </a:rPr>
              <a:t>Não escreva mais do que 5 a 7 palavras em cada Post-it</a:t>
            </a:r>
          </a:p>
        </p:txBody>
      </p:sp>
      <p:sp>
        <p:nvSpPr>
          <p:cNvPr id="8198" name="TextBox 36">
            <a:extLst>
              <a:ext uri="{FF2B5EF4-FFF2-40B4-BE49-F238E27FC236}">
                <a16:creationId xmlns:a16="http://schemas.microsoft.com/office/drawing/2014/main" id="{71CD81EF-CCF1-4082-BA4B-5DC6356FA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66725"/>
            <a:ext cx="2459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pt-BR" sz="2800" b="1">
                <a:cs typeface="Calibri" panose="020F0502020204030204" pitchFamily="34" charset="0"/>
              </a:rPr>
              <a:t>DICAS</a:t>
            </a:r>
          </a:p>
        </p:txBody>
      </p:sp>
      <p:sp>
        <p:nvSpPr>
          <p:cNvPr id="8199" name="TextBox 37">
            <a:extLst>
              <a:ext uri="{FF2B5EF4-FFF2-40B4-BE49-F238E27FC236}">
                <a16:creationId xmlns:a16="http://schemas.microsoft.com/office/drawing/2014/main" id="{3737828A-08E8-4124-9865-869F9BD40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1417638"/>
            <a:ext cx="5665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pt-BR" b="1" u="sng">
                <a:solidFill>
                  <a:srgbClr val="FF0000"/>
                </a:solidFill>
                <a:latin typeface="Verdana" panose="020B0604030504040204" pitchFamily="34" charset="0"/>
              </a:rPr>
              <a:t>NUNCA ESCREVA NUM CANVAS</a:t>
            </a:r>
          </a:p>
        </p:txBody>
      </p:sp>
      <p:sp>
        <p:nvSpPr>
          <p:cNvPr id="8200" name="TextBox 11">
            <a:extLst>
              <a:ext uri="{FF2B5EF4-FFF2-40B4-BE49-F238E27FC236}">
                <a16:creationId xmlns:a16="http://schemas.microsoft.com/office/drawing/2014/main" id="{D07E6DC1-DA14-49E9-9C3D-D3D9F0645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2798763"/>
            <a:ext cx="5665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pt-BR">
                <a:latin typeface="Verdana" panose="020B0604030504040204" pitchFamily="34" charset="0"/>
              </a:rPr>
              <a:t>Use imagens para facilitar o entendimento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2">
            <a:extLst>
              <a:ext uri="{FF2B5EF4-FFF2-40B4-BE49-F238E27FC236}">
                <a16:creationId xmlns:a16="http://schemas.microsoft.com/office/drawing/2014/main" id="{F6301156-A3F4-49FD-A303-173AE7B8F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4781"/>
            <a:ext cx="9144000" cy="6216650"/>
          </a:xfrm>
          <a:prstGeom prst="rect">
            <a:avLst/>
          </a:prstGeom>
          <a:solidFill>
            <a:srgbClr val="FFF9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CaixaDeTexto 3">
            <a:extLst>
              <a:ext uri="{FF2B5EF4-FFF2-40B4-BE49-F238E27FC236}">
                <a16:creationId xmlns:a16="http://schemas.microsoft.com/office/drawing/2014/main" id="{D28C9FD0-4E6D-4435-B9F6-C51CC1DA6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41375"/>
            <a:ext cx="917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Parceiros Chave</a:t>
            </a:r>
          </a:p>
        </p:txBody>
      </p:sp>
      <p:sp>
        <p:nvSpPr>
          <p:cNvPr id="10243" name="CaixaDeTexto 4">
            <a:extLst>
              <a:ext uri="{FF2B5EF4-FFF2-40B4-BE49-F238E27FC236}">
                <a16:creationId xmlns:a16="http://schemas.microsoft.com/office/drawing/2014/main" id="{852C5CBB-6D32-4021-9C65-AF3AFA719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890588"/>
            <a:ext cx="917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Atividades Chave</a:t>
            </a:r>
          </a:p>
        </p:txBody>
      </p:sp>
      <p:sp>
        <p:nvSpPr>
          <p:cNvPr id="10244" name="CaixaDeTexto 5">
            <a:extLst>
              <a:ext uri="{FF2B5EF4-FFF2-40B4-BE49-F238E27FC236}">
                <a16:creationId xmlns:a16="http://schemas.microsoft.com/office/drawing/2014/main" id="{BF4E3989-FF89-4042-AE0A-4B4CFFA1D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3" y="3417888"/>
            <a:ext cx="917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Recursos Chave</a:t>
            </a:r>
          </a:p>
        </p:txBody>
      </p:sp>
      <p:sp>
        <p:nvSpPr>
          <p:cNvPr id="10245" name="CaixaDeTexto 6">
            <a:extLst>
              <a:ext uri="{FF2B5EF4-FFF2-40B4-BE49-F238E27FC236}">
                <a16:creationId xmlns:a16="http://schemas.microsoft.com/office/drawing/2014/main" id="{260256DB-294A-409B-BCE8-311BF263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5354638"/>
            <a:ext cx="9159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Estrutura de Custos</a:t>
            </a:r>
          </a:p>
        </p:txBody>
      </p:sp>
      <p:sp>
        <p:nvSpPr>
          <p:cNvPr id="10246" name="CaixaDeTexto 7">
            <a:extLst>
              <a:ext uri="{FF2B5EF4-FFF2-40B4-BE49-F238E27FC236}">
                <a16:creationId xmlns:a16="http://schemas.microsoft.com/office/drawing/2014/main" id="{8BD6631F-C811-4574-AAEE-BAD3CE2D9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7913" y="5389563"/>
            <a:ext cx="917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Fontes de Receitas</a:t>
            </a:r>
          </a:p>
        </p:txBody>
      </p:sp>
      <p:sp>
        <p:nvSpPr>
          <p:cNvPr id="10247" name="CaixaDeTexto 8">
            <a:extLst>
              <a:ext uri="{FF2B5EF4-FFF2-40B4-BE49-F238E27FC236}">
                <a16:creationId xmlns:a16="http://schemas.microsoft.com/office/drawing/2014/main" id="{76DA8AD4-DE46-4740-B08A-FC401E148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841375"/>
            <a:ext cx="915988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Proposta de Valor</a:t>
            </a:r>
          </a:p>
        </p:txBody>
      </p:sp>
      <p:sp>
        <p:nvSpPr>
          <p:cNvPr id="10248" name="CaixaDeTexto 9">
            <a:extLst>
              <a:ext uri="{FF2B5EF4-FFF2-40B4-BE49-F238E27FC236}">
                <a16:creationId xmlns:a16="http://schemas.microsoft.com/office/drawing/2014/main" id="{9985B113-366D-4A44-A35F-62C4F1184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100" y="890588"/>
            <a:ext cx="12985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Relacionamento com Clientes</a:t>
            </a:r>
          </a:p>
        </p:txBody>
      </p:sp>
      <p:sp>
        <p:nvSpPr>
          <p:cNvPr id="10249" name="CaixaDeTexto 10">
            <a:extLst>
              <a:ext uri="{FF2B5EF4-FFF2-40B4-BE49-F238E27FC236}">
                <a16:creationId xmlns:a16="http://schemas.microsoft.com/office/drawing/2014/main" id="{D2955AF2-7357-40AC-B3B5-13A1B4574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5063" y="841375"/>
            <a:ext cx="9937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Segmentos de Clientes</a:t>
            </a:r>
          </a:p>
        </p:txBody>
      </p:sp>
      <p:sp>
        <p:nvSpPr>
          <p:cNvPr id="10250" name="CaixaDeTexto 11">
            <a:extLst>
              <a:ext uri="{FF2B5EF4-FFF2-40B4-BE49-F238E27FC236}">
                <a16:creationId xmlns:a16="http://schemas.microsoft.com/office/drawing/2014/main" id="{591FA513-2FA3-4304-99D7-DFA9B0B6A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3417888"/>
            <a:ext cx="91598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pt-BR" altLang="pt-BR" sz="1200"/>
              <a:t>Canais</a:t>
            </a:r>
          </a:p>
        </p:txBody>
      </p:sp>
      <p:grpSp>
        <p:nvGrpSpPr>
          <p:cNvPr id="10251" name="Group 72">
            <a:extLst>
              <a:ext uri="{FF2B5EF4-FFF2-40B4-BE49-F238E27FC236}">
                <a16:creationId xmlns:a16="http://schemas.microsoft.com/office/drawing/2014/main" id="{4E0195C2-7BD3-4F9D-A14B-D6C9480C7D53}"/>
              </a:ext>
            </a:extLst>
          </p:cNvPr>
          <p:cNvGrpSpPr>
            <a:grpSpLocks/>
          </p:cNvGrpSpPr>
          <p:nvPr/>
        </p:nvGrpSpPr>
        <p:grpSpPr bwMode="auto">
          <a:xfrm>
            <a:off x="4092575" y="2540000"/>
            <a:ext cx="889000" cy="889000"/>
            <a:chOff x="4091871" y="2540144"/>
            <a:chExt cx="889000" cy="889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6946163-3B57-4A87-918D-82145FB34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78" name="TextBox 71">
              <a:extLst>
                <a:ext uri="{FF2B5EF4-FFF2-40B4-BE49-F238E27FC236}">
                  <a16:creationId xmlns:a16="http://schemas.microsoft.com/office/drawing/2014/main" id="{6DE9814D-FABA-4EAF-9D4C-B175F3EE4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  <p:grpSp>
        <p:nvGrpSpPr>
          <p:cNvPr id="10252" name="Group 73">
            <a:extLst>
              <a:ext uri="{FF2B5EF4-FFF2-40B4-BE49-F238E27FC236}">
                <a16:creationId xmlns:a16="http://schemas.microsoft.com/office/drawing/2014/main" id="{7745FDA0-0680-4FBB-8231-98D19BC775F2}"/>
              </a:ext>
            </a:extLst>
          </p:cNvPr>
          <p:cNvGrpSpPr>
            <a:grpSpLocks/>
          </p:cNvGrpSpPr>
          <p:nvPr/>
        </p:nvGrpSpPr>
        <p:grpSpPr bwMode="auto">
          <a:xfrm>
            <a:off x="7786688" y="2528888"/>
            <a:ext cx="889000" cy="889000"/>
            <a:chOff x="4091871" y="2540144"/>
            <a:chExt cx="889000" cy="8890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C998515-442C-4713-8354-D3B72F136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76" name="TextBox 75">
              <a:extLst>
                <a:ext uri="{FF2B5EF4-FFF2-40B4-BE49-F238E27FC236}">
                  <a16:creationId xmlns:a16="http://schemas.microsoft.com/office/drawing/2014/main" id="{170041D8-61D0-4CAE-A232-FC812F59F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0253" name="Group 76">
            <a:extLst>
              <a:ext uri="{FF2B5EF4-FFF2-40B4-BE49-F238E27FC236}">
                <a16:creationId xmlns:a16="http://schemas.microsoft.com/office/drawing/2014/main" id="{6B43B2F7-A220-4605-B29E-5FA0DE800210}"/>
              </a:ext>
            </a:extLst>
          </p:cNvPr>
          <p:cNvGrpSpPr>
            <a:grpSpLocks/>
          </p:cNvGrpSpPr>
          <p:nvPr/>
        </p:nvGrpSpPr>
        <p:grpSpPr bwMode="auto">
          <a:xfrm>
            <a:off x="5908675" y="4041775"/>
            <a:ext cx="889000" cy="889000"/>
            <a:chOff x="4091871" y="2540144"/>
            <a:chExt cx="889000" cy="889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6EEAD5F-2D47-47BD-9706-F847B3B7E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74" name="TextBox 78">
              <a:extLst>
                <a:ext uri="{FF2B5EF4-FFF2-40B4-BE49-F238E27FC236}">
                  <a16:creationId xmlns:a16="http://schemas.microsoft.com/office/drawing/2014/main" id="{6BE9C52D-84C7-4784-80C0-DC951FF51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grpSp>
        <p:nvGrpSpPr>
          <p:cNvPr id="10254" name="Group 79">
            <a:extLst>
              <a:ext uri="{FF2B5EF4-FFF2-40B4-BE49-F238E27FC236}">
                <a16:creationId xmlns:a16="http://schemas.microsoft.com/office/drawing/2014/main" id="{64F47FCA-63DE-4B37-B888-3FC50AA1F3DF}"/>
              </a:ext>
            </a:extLst>
          </p:cNvPr>
          <p:cNvGrpSpPr>
            <a:grpSpLocks/>
          </p:cNvGrpSpPr>
          <p:nvPr/>
        </p:nvGrpSpPr>
        <p:grpSpPr bwMode="auto">
          <a:xfrm>
            <a:off x="6026150" y="1803400"/>
            <a:ext cx="889000" cy="889000"/>
            <a:chOff x="4091871" y="2540144"/>
            <a:chExt cx="889000" cy="889000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A01BF9E-F30A-4AAB-9E92-393CF2345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72" name="TextBox 81">
              <a:extLst>
                <a:ext uri="{FF2B5EF4-FFF2-40B4-BE49-F238E27FC236}">
                  <a16:creationId xmlns:a16="http://schemas.microsoft.com/office/drawing/2014/main" id="{9B418FDF-295B-4BCA-B26C-43CEC8B0B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4</a:t>
              </a:r>
            </a:p>
          </p:txBody>
        </p:sp>
      </p:grpSp>
      <p:grpSp>
        <p:nvGrpSpPr>
          <p:cNvPr id="10255" name="Group 82">
            <a:extLst>
              <a:ext uri="{FF2B5EF4-FFF2-40B4-BE49-F238E27FC236}">
                <a16:creationId xmlns:a16="http://schemas.microsoft.com/office/drawing/2014/main" id="{EB1FD903-BF61-47A0-A897-CF34540E2DD1}"/>
              </a:ext>
            </a:extLst>
          </p:cNvPr>
          <p:cNvGrpSpPr>
            <a:grpSpLocks/>
          </p:cNvGrpSpPr>
          <p:nvPr/>
        </p:nvGrpSpPr>
        <p:grpSpPr bwMode="auto">
          <a:xfrm>
            <a:off x="6353175" y="5449888"/>
            <a:ext cx="889000" cy="889000"/>
            <a:chOff x="4091871" y="2540144"/>
            <a:chExt cx="889000" cy="88900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3C03AF0-6062-45EF-ADCD-25204B3BB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70" name="TextBox 84">
              <a:extLst>
                <a:ext uri="{FF2B5EF4-FFF2-40B4-BE49-F238E27FC236}">
                  <a16:creationId xmlns:a16="http://schemas.microsoft.com/office/drawing/2014/main" id="{890D4677-F7FD-410E-AF4C-DCC605FC8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5</a:t>
              </a:r>
            </a:p>
          </p:txBody>
        </p:sp>
      </p:grpSp>
      <p:grpSp>
        <p:nvGrpSpPr>
          <p:cNvPr id="10256" name="Group 85">
            <a:extLst>
              <a:ext uri="{FF2B5EF4-FFF2-40B4-BE49-F238E27FC236}">
                <a16:creationId xmlns:a16="http://schemas.microsoft.com/office/drawing/2014/main" id="{35F0D1BD-1C0B-4306-B41E-1C865E941260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4041775"/>
            <a:ext cx="889000" cy="889000"/>
            <a:chOff x="4091871" y="2540144"/>
            <a:chExt cx="889000" cy="889000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5AD1E38-294B-484A-A62C-5B3589FA0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68" name="TextBox 87">
              <a:extLst>
                <a:ext uri="{FF2B5EF4-FFF2-40B4-BE49-F238E27FC236}">
                  <a16:creationId xmlns:a16="http://schemas.microsoft.com/office/drawing/2014/main" id="{D404A9A9-15BE-44E0-8727-BAE2A2EAA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6</a:t>
              </a:r>
            </a:p>
          </p:txBody>
        </p:sp>
      </p:grpSp>
      <p:grpSp>
        <p:nvGrpSpPr>
          <p:cNvPr id="10257" name="Group 88">
            <a:extLst>
              <a:ext uri="{FF2B5EF4-FFF2-40B4-BE49-F238E27FC236}">
                <a16:creationId xmlns:a16="http://schemas.microsoft.com/office/drawing/2014/main" id="{51911205-77A4-495B-90EB-E348D0F47B1D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1849438"/>
            <a:ext cx="889000" cy="889000"/>
            <a:chOff x="4091871" y="2540144"/>
            <a:chExt cx="889000" cy="889000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E769A4EA-CCA6-4AA5-9EB8-FA8C311AD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66" name="TextBox 90">
              <a:extLst>
                <a:ext uri="{FF2B5EF4-FFF2-40B4-BE49-F238E27FC236}">
                  <a16:creationId xmlns:a16="http://schemas.microsoft.com/office/drawing/2014/main" id="{6DEACD46-42BF-45E1-B1EB-3373048C6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 dirty="0">
                  <a:solidFill>
                    <a:schemeClr val="bg1"/>
                  </a:solidFill>
                  <a:latin typeface="Verdana" panose="020B0604030504040204" pitchFamily="34" charset="0"/>
                </a:rPr>
                <a:t>7</a:t>
              </a:r>
            </a:p>
          </p:txBody>
        </p:sp>
      </p:grpSp>
      <p:grpSp>
        <p:nvGrpSpPr>
          <p:cNvPr id="10258" name="Group 91">
            <a:extLst>
              <a:ext uri="{FF2B5EF4-FFF2-40B4-BE49-F238E27FC236}">
                <a16:creationId xmlns:a16="http://schemas.microsoft.com/office/drawing/2014/main" id="{E2CB7AF4-B97F-4415-9545-756DC6CE2F48}"/>
              </a:ext>
            </a:extLst>
          </p:cNvPr>
          <p:cNvGrpSpPr>
            <a:grpSpLocks/>
          </p:cNvGrpSpPr>
          <p:nvPr/>
        </p:nvGrpSpPr>
        <p:grpSpPr bwMode="auto">
          <a:xfrm>
            <a:off x="458788" y="2400300"/>
            <a:ext cx="889000" cy="889000"/>
            <a:chOff x="4091871" y="2540144"/>
            <a:chExt cx="889000" cy="88900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7A61B66-4086-46B6-B119-67CD2E66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64" name="TextBox 93">
              <a:extLst>
                <a:ext uri="{FF2B5EF4-FFF2-40B4-BE49-F238E27FC236}">
                  <a16:creationId xmlns:a16="http://schemas.microsoft.com/office/drawing/2014/main" id="{61CD7F90-A3CA-4D84-A4F1-CDB571E9B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8</a:t>
              </a:r>
            </a:p>
          </p:txBody>
        </p:sp>
      </p:grpSp>
      <p:grpSp>
        <p:nvGrpSpPr>
          <p:cNvPr id="10259" name="Group 94">
            <a:extLst>
              <a:ext uri="{FF2B5EF4-FFF2-40B4-BE49-F238E27FC236}">
                <a16:creationId xmlns:a16="http://schemas.microsoft.com/office/drawing/2014/main" id="{16B0B3AA-0C15-4A4A-8805-B1B370048AEB}"/>
              </a:ext>
            </a:extLst>
          </p:cNvPr>
          <p:cNvGrpSpPr>
            <a:grpSpLocks/>
          </p:cNvGrpSpPr>
          <p:nvPr/>
        </p:nvGrpSpPr>
        <p:grpSpPr bwMode="auto">
          <a:xfrm>
            <a:off x="2062163" y="5602288"/>
            <a:ext cx="889000" cy="889000"/>
            <a:chOff x="4091871" y="2540144"/>
            <a:chExt cx="889000" cy="88900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98CA816-3F6A-4AE9-B118-5B41A6AFC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1871" y="2540144"/>
              <a:ext cx="889000" cy="889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srgbClr val="80808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0262" name="TextBox 96">
              <a:extLst>
                <a:ext uri="{FF2B5EF4-FFF2-40B4-BE49-F238E27FC236}">
                  <a16:creationId xmlns:a16="http://schemas.microsoft.com/office/drawing/2014/main" id="{22CDFAF5-1201-4D5E-984B-A6EF7C2DE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979" y="2692256"/>
              <a:ext cx="64278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pt-BR" sz="3200">
                  <a:solidFill>
                    <a:schemeClr val="bg1"/>
                  </a:solidFill>
                  <a:latin typeface="Verdana" panose="020B0604030504040204" pitchFamily="34" charset="0"/>
                </a:rPr>
                <a:t>9</a:t>
              </a:r>
            </a:p>
          </p:txBody>
        </p:sp>
      </p:grpSp>
      <p:sp>
        <p:nvSpPr>
          <p:cNvPr id="10260" name="TextBox 97">
            <a:extLst>
              <a:ext uri="{FF2B5EF4-FFF2-40B4-BE49-F238E27FC236}">
                <a16:creationId xmlns:a16="http://schemas.microsoft.com/office/drawing/2014/main" id="{9ABBA37D-0B16-4574-8A68-36EE783C2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6038"/>
            <a:ext cx="2740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pt-BR" b="1"/>
              <a:t>ORDEM DE PREENCHIMENTO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upo 12">
            <a:extLst>
              <a:ext uri="{FF2B5EF4-FFF2-40B4-BE49-F238E27FC236}">
                <a16:creationId xmlns:a16="http://schemas.microsoft.com/office/drawing/2014/main" id="{BAA62581-BDD9-42B8-A12D-F1D6FE928356}"/>
              </a:ext>
            </a:extLst>
          </p:cNvPr>
          <p:cNvGrpSpPr>
            <a:grpSpLocks/>
          </p:cNvGrpSpPr>
          <p:nvPr/>
        </p:nvGrpSpPr>
        <p:grpSpPr bwMode="auto">
          <a:xfrm>
            <a:off x="0" y="620713"/>
            <a:ext cx="9144000" cy="6216650"/>
            <a:chOff x="251520" y="1152525"/>
            <a:chExt cx="8620125" cy="5314430"/>
          </a:xfrm>
        </p:grpSpPr>
        <p:pic>
          <p:nvPicPr>
            <p:cNvPr id="14348" name="Picture 2">
              <a:extLst>
                <a:ext uri="{FF2B5EF4-FFF2-40B4-BE49-F238E27FC236}">
                  <a16:creationId xmlns:a16="http://schemas.microsoft.com/office/drawing/2014/main" id="{669CF5DE-05E4-4163-8B41-652150429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1152525"/>
              <a:ext cx="8620125" cy="5314430"/>
            </a:xfrm>
            <a:prstGeom prst="rect">
              <a:avLst/>
            </a:prstGeom>
            <a:solidFill>
              <a:srgbClr val="FFF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9" name="CaixaDeTexto 3">
              <a:extLst>
                <a:ext uri="{FF2B5EF4-FFF2-40B4-BE49-F238E27FC236}">
                  <a16:creationId xmlns:a16="http://schemas.microsoft.com/office/drawing/2014/main" id="{4EB4B532-AC82-4D16-A860-868FA6B75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1340768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Parceiros Chave</a:t>
              </a:r>
            </a:p>
          </p:txBody>
        </p:sp>
        <p:sp>
          <p:nvSpPr>
            <p:cNvPr id="14350" name="CaixaDeTexto 4">
              <a:extLst>
                <a:ext uri="{FF2B5EF4-FFF2-40B4-BE49-F238E27FC236}">
                  <a16:creationId xmlns:a16="http://schemas.microsoft.com/office/drawing/2014/main" id="{AACBBB4F-B191-4844-A8D0-2609E6C2D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7744" y="1383159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Atividades Chave</a:t>
              </a:r>
            </a:p>
          </p:txBody>
        </p:sp>
        <p:sp>
          <p:nvSpPr>
            <p:cNvPr id="14351" name="CaixaDeTexto 5">
              <a:extLst>
                <a:ext uri="{FF2B5EF4-FFF2-40B4-BE49-F238E27FC236}">
                  <a16:creationId xmlns:a16="http://schemas.microsoft.com/office/drawing/2014/main" id="{14811498-C7F1-4BF7-95AF-1F9C380A7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736" y="3543399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Recursos Chave</a:t>
              </a:r>
            </a:p>
          </p:txBody>
        </p:sp>
        <p:sp>
          <p:nvSpPr>
            <p:cNvPr id="14352" name="CaixaDeTexto 6">
              <a:extLst>
                <a:ext uri="{FF2B5EF4-FFF2-40B4-BE49-F238E27FC236}">
                  <a16:creationId xmlns:a16="http://schemas.microsoft.com/office/drawing/2014/main" id="{2B7A1745-5F2B-4CCA-8C70-2A271B557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60" y="5199583"/>
              <a:ext cx="8640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Estrutura de Custos</a:t>
              </a:r>
            </a:p>
          </p:txBody>
        </p:sp>
        <p:sp>
          <p:nvSpPr>
            <p:cNvPr id="14353" name="CaixaDeTexto 7">
              <a:extLst>
                <a:ext uri="{FF2B5EF4-FFF2-40B4-BE49-F238E27FC236}">
                  <a16:creationId xmlns:a16="http://schemas.microsoft.com/office/drawing/2014/main" id="{AC8D9089-C11E-48C7-8EE5-B8414C730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32" y="5229200"/>
              <a:ext cx="864096" cy="394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Fontes de Receitas</a:t>
              </a:r>
            </a:p>
          </p:txBody>
        </p:sp>
        <p:sp>
          <p:nvSpPr>
            <p:cNvPr id="14354" name="CaixaDeTexto 8">
              <a:extLst>
                <a:ext uri="{FF2B5EF4-FFF2-40B4-BE49-F238E27FC236}">
                  <a16:creationId xmlns:a16="http://schemas.microsoft.com/office/drawing/2014/main" id="{E273552D-7AB0-483D-9D0A-69B06E30E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340768"/>
              <a:ext cx="8640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Proposta de Valor</a:t>
              </a:r>
            </a:p>
          </p:txBody>
        </p:sp>
        <p:sp>
          <p:nvSpPr>
            <p:cNvPr id="14355" name="CaixaDeTexto 9">
              <a:extLst>
                <a:ext uri="{FF2B5EF4-FFF2-40B4-BE49-F238E27FC236}">
                  <a16:creationId xmlns:a16="http://schemas.microsoft.com/office/drawing/2014/main" id="{5DFDB7C5-8E7E-42A5-B263-32AEA218A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096" y="1383159"/>
              <a:ext cx="12241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Relacionamento com Clientes</a:t>
              </a:r>
            </a:p>
          </p:txBody>
        </p:sp>
        <p:sp>
          <p:nvSpPr>
            <p:cNvPr id="14356" name="CaixaDeTexto 10">
              <a:extLst>
                <a:ext uri="{FF2B5EF4-FFF2-40B4-BE49-F238E27FC236}">
                  <a16:creationId xmlns:a16="http://schemas.microsoft.com/office/drawing/2014/main" id="{F8AF8AA7-006F-43F6-A977-45ED1E047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304" y="1340768"/>
              <a:ext cx="9361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Segmentos de Clientes</a:t>
              </a:r>
            </a:p>
          </p:txBody>
        </p:sp>
        <p:sp>
          <p:nvSpPr>
            <p:cNvPr id="14357" name="CaixaDeTexto 11">
              <a:extLst>
                <a:ext uri="{FF2B5EF4-FFF2-40B4-BE49-F238E27FC236}">
                  <a16:creationId xmlns:a16="http://schemas.microsoft.com/office/drawing/2014/main" id="{98121419-FF4B-4C9E-9449-8AA568467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112" y="3543399"/>
              <a:ext cx="86409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pt-BR" altLang="pt-BR" sz="1200"/>
                <a:t>Canais</a:t>
              </a:r>
            </a:p>
          </p:txBody>
        </p:sp>
      </p:grpSp>
      <p:sp>
        <p:nvSpPr>
          <p:cNvPr id="14338" name="TextBox 53">
            <a:extLst>
              <a:ext uri="{FF2B5EF4-FFF2-40B4-BE49-F238E27FC236}">
                <a16:creationId xmlns:a16="http://schemas.microsoft.com/office/drawing/2014/main" id="{B35D9A59-2DB5-485E-B404-75F6160CC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65100"/>
            <a:ext cx="2051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pt-BR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XX/XX/XXXX</a:t>
            </a:r>
          </a:p>
        </p:txBody>
      </p:sp>
      <p:sp>
        <p:nvSpPr>
          <p:cNvPr id="14339" name="TextBox 78">
            <a:extLst>
              <a:ext uri="{FF2B5EF4-FFF2-40B4-BE49-F238E27FC236}">
                <a16:creationId xmlns:a16="http://schemas.microsoft.com/office/drawing/2014/main" id="{CF4A746F-512E-4644-8194-DC547FD6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6038"/>
            <a:ext cx="2740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pt-BR">
                <a:solidFill>
                  <a:srgbClr val="FF0000"/>
                </a:solidFill>
              </a:rPr>
              <a:t>LOGO OU NOME </a:t>
            </a:r>
          </a:p>
          <a:p>
            <a:pPr algn="ctr"/>
            <a:r>
              <a:rPr lang="en-US" altLang="pt-BR">
                <a:solidFill>
                  <a:srgbClr val="FF0000"/>
                </a:solidFill>
              </a:rPr>
              <a:t>DO PROJETO</a:t>
            </a:r>
          </a:p>
        </p:txBody>
      </p:sp>
      <p:sp>
        <p:nvSpPr>
          <p:cNvPr id="89" name="Folded Corner 88">
            <a:extLst>
              <a:ext uri="{FF2B5EF4-FFF2-40B4-BE49-F238E27FC236}">
                <a16:creationId xmlns:a16="http://schemas.microsoft.com/office/drawing/2014/main" id="{0CBED47C-4007-48C8-8219-3BC62A85B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2033588"/>
            <a:ext cx="1069975" cy="1079500"/>
          </a:xfrm>
          <a:prstGeom prst="foldedCorner">
            <a:avLst>
              <a:gd name="adj" fmla="val 16667"/>
            </a:avLst>
          </a:prstGeom>
          <a:solidFill>
            <a:srgbClr val="FFF966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latin typeface="Arial"/>
              <a:ea typeface="+mn-ea"/>
              <a:cs typeface="Arial"/>
            </a:endParaRPr>
          </a:p>
        </p:txBody>
      </p:sp>
      <p:sp>
        <p:nvSpPr>
          <p:cNvPr id="92" name="Folded Corner 91">
            <a:extLst>
              <a:ext uri="{FF2B5EF4-FFF2-40B4-BE49-F238E27FC236}">
                <a16:creationId xmlns:a16="http://schemas.microsoft.com/office/drawing/2014/main" id="{0B618683-4C27-4C03-84A7-67C046CDA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2368550"/>
            <a:ext cx="1069975" cy="1081088"/>
          </a:xfrm>
          <a:prstGeom prst="foldedCorner">
            <a:avLst>
              <a:gd name="adj" fmla="val 16667"/>
            </a:avLst>
          </a:prstGeom>
          <a:solidFill>
            <a:srgbClr val="E75552"/>
          </a:solidFill>
          <a:ln>
            <a:noFill/>
          </a:ln>
          <a:effectLst>
            <a:outerShdw blurRad="50800" dist="38100" dir="5400000" algn="t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lt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95" name="Folded Corner 94">
            <a:extLst>
              <a:ext uri="{FF2B5EF4-FFF2-40B4-BE49-F238E27FC236}">
                <a16:creationId xmlns:a16="http://schemas.microsoft.com/office/drawing/2014/main" id="{F52B53D5-B2D4-45F0-B8A7-ADCF1A909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2809875"/>
            <a:ext cx="1069975" cy="1079500"/>
          </a:xfrm>
          <a:prstGeom prst="foldedCorner">
            <a:avLst>
              <a:gd name="adj" fmla="val 16667"/>
            </a:avLst>
          </a:prstGeom>
          <a:solidFill>
            <a:srgbClr val="F79646"/>
          </a:solidFill>
          <a:ln w="9525">
            <a:solidFill>
              <a:srgbClr val="F79646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lt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93" name="Folded Corner 92">
            <a:extLst>
              <a:ext uri="{FF2B5EF4-FFF2-40B4-BE49-F238E27FC236}">
                <a16:creationId xmlns:a16="http://schemas.microsoft.com/office/drawing/2014/main" id="{A56E07C4-84BB-4B1B-B551-9D75BDED8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075" y="3113088"/>
            <a:ext cx="1068388" cy="1081087"/>
          </a:xfrm>
          <a:prstGeom prst="foldedCorner">
            <a:avLst>
              <a:gd name="adj" fmla="val 16667"/>
            </a:avLst>
          </a:prstGeom>
          <a:solidFill>
            <a:srgbClr val="84A3E3"/>
          </a:solidFill>
          <a:ln>
            <a:noFill/>
          </a:ln>
          <a:effectLst>
            <a:outerShdw blurRad="50800" dist="38100" dir="5400000" algn="t" rotWithShape="0">
              <a:srgbClr val="80808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lt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4344" name="TextBox 40">
            <a:extLst>
              <a:ext uri="{FF2B5EF4-FFF2-40B4-BE49-F238E27FC236}">
                <a16:creationId xmlns:a16="http://schemas.microsoft.com/office/drawing/2014/main" id="{1B502123-4B76-4F4E-9AF1-0A3DE137E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168275"/>
            <a:ext cx="985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pt-BR">
                <a:solidFill>
                  <a:srgbClr val="000000"/>
                </a:solidFill>
              </a:rPr>
              <a:t>DATA:</a:t>
            </a:r>
          </a:p>
        </p:txBody>
      </p:sp>
      <p:sp>
        <p:nvSpPr>
          <p:cNvPr id="43" name="Folded Corner 42">
            <a:extLst>
              <a:ext uri="{FF2B5EF4-FFF2-40B4-BE49-F238E27FC236}">
                <a16:creationId xmlns:a16="http://schemas.microsoft.com/office/drawing/2014/main" id="{B416D397-66AC-4A07-B63E-8A4F9C112FDD}"/>
              </a:ext>
            </a:extLst>
          </p:cNvPr>
          <p:cNvSpPr/>
          <p:nvPr/>
        </p:nvSpPr>
        <p:spPr>
          <a:xfrm>
            <a:off x="4800302" y="3417266"/>
            <a:ext cx="1069326" cy="1080120"/>
          </a:xfrm>
          <a:prstGeom prst="foldedCorner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i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Tipo de Madeira</Template>
  <TotalTime>148</TotalTime>
  <Words>289</Words>
  <Application>Microsoft Office PowerPoint</Application>
  <PresentationFormat>Apresentação na tela (4:3)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</vt:i4>
      </vt:variant>
    </vt:vector>
  </HeadingPairs>
  <TitlesOfParts>
    <vt:vector size="15" baseType="lpstr">
      <vt:lpstr>MS PGothic</vt:lpstr>
      <vt:lpstr>Arial</vt:lpstr>
      <vt:lpstr>Calibri</vt:lpstr>
      <vt:lpstr>Calibri Light</vt:lpstr>
      <vt:lpstr>Handwriting - Dakota</vt:lpstr>
      <vt:lpstr>Rockwell</vt:lpstr>
      <vt:lpstr>Rockwell Condensed</vt:lpstr>
      <vt:lpstr>Verdana</vt:lpstr>
      <vt:lpstr>Wingdings</vt:lpstr>
      <vt:lpstr>Tipo de Madeira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Thiago Paiva</dc:creator>
  <cp:lastModifiedBy>Vanise Rafaela Zivieri Ralio</cp:lastModifiedBy>
  <cp:revision>16</cp:revision>
  <dcterms:created xsi:type="dcterms:W3CDTF">2012-10-24T13:56:31Z</dcterms:created>
  <dcterms:modified xsi:type="dcterms:W3CDTF">2026-10-01T22:41:18Z</dcterms:modified>
</cp:coreProperties>
</file>