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8FAFC"/>
                </a:solidFill>
                <a:latin typeface="Aptos"/>
              </a:rPr>
              <a:t>SKILLWAY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828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BD2DC"/>
                </a:solidFill>
                <a:latin typeface="Aptos"/>
              </a:rPr>
              <a:t>Análise das respostas do formulário + Persona Canvas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60604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DD7EB"/>
                </a:solidFill>
                <a:latin typeface="Aptos"/>
              </a:rPr>
              <a:t>Base: 22 respostas coletadas em setembro de 2026.
Objetivo: transformar os dados em evidências para a apresentação e ajustar a persona à realidade encontrada.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3949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“Habilidades que abrem caminhos.”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O que os dados mostram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BED2"/>
                </a:solidFill>
                <a:latin typeface="Aptos"/>
              </a:rPr>
              <a:t>A amostra aponta mais para necessidade de direção e evolução do que para falta absoluta de capacidade.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2514600" cy="1417320"/>
          </a:xfrm>
          <a:prstGeom prst="roundRect">
            <a:avLst/>
          </a:prstGeom>
          <a:solidFill>
            <a:srgbClr val="11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673351"/>
            <a:ext cx="21854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BD2DC"/>
                </a:solidFill>
                <a:latin typeface="Aptos"/>
              </a:rPr>
              <a:t>63,6%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167128"/>
            <a:ext cx="218541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Aptos"/>
              </a:rPr>
              <a:t>têm entre 18 e 24 anos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508760"/>
            <a:ext cx="2514600" cy="1417320"/>
          </a:xfrm>
          <a:prstGeom prst="roundRect">
            <a:avLst/>
          </a:prstGeom>
          <a:solidFill>
            <a:srgbClr val="11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2152" y="1673351"/>
            <a:ext cx="21854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825AEB"/>
                </a:solidFill>
                <a:latin typeface="Aptos"/>
              </a:rPr>
              <a:t>59,1%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2152" y="2167128"/>
            <a:ext cx="218541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Aptos"/>
              </a:rPr>
              <a:t>estão empregados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508760"/>
            <a:ext cx="2514600" cy="1417320"/>
          </a:xfrm>
          <a:prstGeom prst="roundRect">
            <a:avLst/>
          </a:prstGeom>
          <a:solidFill>
            <a:srgbClr val="11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1" y="1673351"/>
            <a:ext cx="21854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3CB482"/>
                </a:solidFill>
                <a:latin typeface="Aptos"/>
              </a:rPr>
              <a:t>77,3%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9631" y="2167128"/>
            <a:ext cx="218541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Aptos"/>
              </a:rPr>
              <a:t>atuam há até 2 anos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1508760"/>
            <a:ext cx="2514600" cy="1417320"/>
          </a:xfrm>
          <a:prstGeom prst="roundRect">
            <a:avLst/>
          </a:prstGeom>
          <a:solidFill>
            <a:srgbClr val="11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97112" y="1673351"/>
            <a:ext cx="21854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5A546"/>
                </a:solidFill>
                <a:latin typeface="Aptos"/>
              </a:rPr>
              <a:t>68,2%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7112" y="2167128"/>
            <a:ext cx="218541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Aptos"/>
              </a:rPr>
              <a:t>querem evoluir na formação ou atuação atual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246120"/>
            <a:ext cx="10607040" cy="24688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4930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42D"/>
                </a:solidFill>
                <a:latin typeface="Aptos"/>
              </a:rPr>
              <a:t>Principal insight para o projeto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913632"/>
            <a:ext cx="10012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D41"/>
                </a:solidFill>
                <a:latin typeface="Aptos"/>
              </a:rPr>
              <a:t>A persona não deve ser retratada como alguém “incapaz”. A maioria afirma estar capacitada para a área desejada, mas as respostas abertas repetem necessidades de DIREÇÃO, CENTRALIZAÇÃO DE CONTEÚDOS, CAPACITAÇÃO E CLAREZA SOBRE O QUE FAZER A SEGUIR.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76672"/>
            <a:ext cx="9966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387"/>
                </a:solidFill>
                <a:latin typeface="Aptos"/>
              </a:rPr>
              <a:t>Fonte: respostas do formulário; percentuais calculados sobre 22 respondentes.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Perfil da amostra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BED2"/>
                </a:solidFill>
                <a:latin typeface="Aptos"/>
              </a:rPr>
              <a:t>Quem respondeu ao formulário?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212080" cy="4983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142D"/>
                </a:solidFill>
                <a:latin typeface="Aptos"/>
              </a:rPr>
              <a:t>Faixa etária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18818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32D41"/>
                </a:solidFill>
                <a:latin typeface="Aptos"/>
              </a:rPr>
              <a:t>18 a 24 anos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50515" y="2093976"/>
            <a:ext cx="2240280" cy="164592"/>
          </a:xfrm>
          <a:prstGeom prst="round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50515" y="2093976"/>
            <a:ext cx="2240280" cy="164592"/>
          </a:xfrm>
          <a:prstGeom prst="roundRect">
            <a:avLst/>
          </a:prstGeom>
          <a:solidFill>
            <a:srgbClr val="2B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90795" y="2029968"/>
            <a:ext cx="3584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387"/>
                </a:solidFill>
                <a:latin typeface="Aptos"/>
              </a:rPr>
              <a:t>14 (64%)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79192"/>
            <a:ext cx="18818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32D41"/>
                </a:solidFill>
                <a:latin typeface="Aptos"/>
              </a:rPr>
              <a:t>25 a 34 anos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50515" y="2715768"/>
            <a:ext cx="2240280" cy="164592"/>
          </a:xfrm>
          <a:prstGeom prst="round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50515" y="2715768"/>
            <a:ext cx="640080" cy="164592"/>
          </a:xfrm>
          <a:prstGeom prst="roundRect">
            <a:avLst/>
          </a:prstGeom>
          <a:solidFill>
            <a:srgbClr val="825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90795" y="2651760"/>
            <a:ext cx="3584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387"/>
                </a:solidFill>
                <a:latin typeface="Aptos"/>
              </a:rPr>
              <a:t>4 (18%)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300984"/>
            <a:ext cx="18818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32D41"/>
                </a:solidFill>
                <a:latin typeface="Aptos"/>
              </a:rPr>
              <a:t>35 a 44 anos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50515" y="3337560"/>
            <a:ext cx="2240280" cy="164592"/>
          </a:xfrm>
          <a:prstGeom prst="round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50515" y="3337560"/>
            <a:ext cx="480060" cy="164592"/>
          </a:xfrm>
          <a:prstGeom prst="roundRect">
            <a:avLst/>
          </a:prstGeom>
          <a:solidFill>
            <a:srgbClr val="F5A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90795" y="3273552"/>
            <a:ext cx="3584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387"/>
                </a:solidFill>
                <a:latin typeface="Aptos"/>
              </a:rPr>
              <a:t>3 (14%)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922776"/>
            <a:ext cx="18818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32D41"/>
                </a:solidFill>
                <a:latin typeface="Aptos"/>
              </a:rPr>
              <a:t>65 anos ou mais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50515" y="3959352"/>
            <a:ext cx="2240280" cy="164592"/>
          </a:xfrm>
          <a:prstGeom prst="round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50515" y="3959352"/>
            <a:ext cx="160020" cy="164592"/>
          </a:xfrm>
          <a:prstGeom prst="roundRect">
            <a:avLst/>
          </a:prstGeom>
          <a:solidFill>
            <a:srgbClr val="3C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90795" y="3895344"/>
            <a:ext cx="3584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387"/>
                </a:solidFill>
                <a:latin typeface="Aptos"/>
              </a:rPr>
              <a:t>1 (5%)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15727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142D"/>
                </a:solidFill>
                <a:latin typeface="Aptos"/>
              </a:rPr>
              <a:t>Situação profissional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1874519"/>
            <a:ext cx="5074920" cy="1965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148840"/>
            <a:ext cx="18818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32D41"/>
                </a:solidFill>
                <a:latin typeface="Aptos"/>
              </a:rPr>
              <a:t>Empregado(a)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82635" y="2185416"/>
            <a:ext cx="2240280" cy="164592"/>
          </a:xfrm>
          <a:prstGeom prst="round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82635" y="2185416"/>
            <a:ext cx="2240280" cy="164592"/>
          </a:xfrm>
          <a:prstGeom prst="roundRect">
            <a:avLst/>
          </a:prstGeom>
          <a:solidFill>
            <a:srgbClr val="825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22915" y="2121408"/>
            <a:ext cx="3584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387"/>
                </a:solidFill>
                <a:latin typeface="Aptos"/>
              </a:rPr>
              <a:t>13 (59%)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50592"/>
            <a:ext cx="18818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32D41"/>
                </a:solidFill>
                <a:latin typeface="Aptos"/>
              </a:rPr>
              <a:t>Estagiário(a)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82635" y="2487168"/>
            <a:ext cx="2240280" cy="164592"/>
          </a:xfrm>
          <a:prstGeom prst="round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82635" y="2487168"/>
            <a:ext cx="516987" cy="164592"/>
          </a:xfrm>
          <a:prstGeom prst="roundRect">
            <a:avLst/>
          </a:prstGeom>
          <a:solidFill>
            <a:srgbClr val="2B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22915" y="2423160"/>
            <a:ext cx="3584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387"/>
                </a:solidFill>
                <a:latin typeface="Aptos"/>
              </a:rPr>
              <a:t>3 (14%)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752344"/>
            <a:ext cx="18818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32D41"/>
                </a:solidFill>
                <a:latin typeface="Aptos"/>
              </a:rPr>
              <a:t>Autônomo(a)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82635" y="2788920"/>
            <a:ext cx="2240280" cy="164592"/>
          </a:xfrm>
          <a:prstGeom prst="round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282635" y="2788920"/>
            <a:ext cx="344658" cy="164592"/>
          </a:xfrm>
          <a:prstGeom prst="roundRect">
            <a:avLst/>
          </a:prstGeom>
          <a:solidFill>
            <a:srgbClr val="3C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22915" y="2724912"/>
            <a:ext cx="3584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387"/>
                </a:solidFill>
                <a:latin typeface="Aptos"/>
              </a:rPr>
              <a:t>2 (9%)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054096"/>
            <a:ext cx="18818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32D41"/>
                </a:solidFill>
                <a:latin typeface="Aptos"/>
              </a:rPr>
              <a:t>Empreendedor(a)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82635" y="3090672"/>
            <a:ext cx="2240280" cy="164592"/>
          </a:xfrm>
          <a:prstGeom prst="round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282635" y="3090672"/>
            <a:ext cx="344658" cy="164592"/>
          </a:xfrm>
          <a:prstGeom prst="roundRect">
            <a:avLst/>
          </a:prstGeom>
          <a:solidFill>
            <a:srgbClr val="F5A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22915" y="3026664"/>
            <a:ext cx="3584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387"/>
                </a:solidFill>
                <a:latin typeface="Aptos"/>
              </a:rPr>
              <a:t>2 (9%)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3355848"/>
            <a:ext cx="18818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32D41"/>
                </a:solidFill>
                <a:latin typeface="Aptos"/>
              </a:rPr>
              <a:t>Estudante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82635" y="3392424"/>
            <a:ext cx="2240280" cy="164592"/>
          </a:xfrm>
          <a:prstGeom prst="round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282635" y="3392424"/>
            <a:ext cx="344658" cy="164592"/>
          </a:xfrm>
          <a:prstGeom prst="roundRect">
            <a:avLst/>
          </a:prstGeom>
          <a:solidFill>
            <a:srgbClr val="2B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22915" y="3328416"/>
            <a:ext cx="3584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387"/>
                </a:solidFill>
                <a:latin typeface="Aptos"/>
              </a:rPr>
              <a:t>2 (9%)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72200" y="40965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142D"/>
                </a:solidFill>
                <a:latin typeface="Aptos"/>
              </a:rPr>
              <a:t>Tempo de atuação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72200" y="4407408"/>
            <a:ext cx="5074920" cy="190195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4663440"/>
            <a:ext cx="18818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32D41"/>
                </a:solidFill>
                <a:latin typeface="Aptos"/>
              </a:rPr>
              <a:t>1 a 2 anos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82635" y="4700016"/>
            <a:ext cx="2240280" cy="164592"/>
          </a:xfrm>
          <a:prstGeom prst="round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282635" y="4700016"/>
            <a:ext cx="2240280" cy="164592"/>
          </a:xfrm>
          <a:prstGeom prst="roundRect">
            <a:avLst/>
          </a:prstGeom>
          <a:solidFill>
            <a:srgbClr val="2B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522915" y="4636007"/>
            <a:ext cx="3584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387"/>
                </a:solidFill>
                <a:latin typeface="Aptos"/>
              </a:rPr>
              <a:t>10 (45%)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5029200"/>
            <a:ext cx="18818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32D41"/>
                </a:solidFill>
                <a:latin typeface="Aptos"/>
              </a:rPr>
              <a:t>Menos de 1 ano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82635" y="5065776"/>
            <a:ext cx="2240280" cy="164592"/>
          </a:xfrm>
          <a:prstGeom prst="round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282635" y="5065776"/>
            <a:ext cx="1568196" cy="164592"/>
          </a:xfrm>
          <a:prstGeom prst="roundRect">
            <a:avLst/>
          </a:prstGeom>
          <a:solidFill>
            <a:srgbClr val="825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522915" y="5001768"/>
            <a:ext cx="3584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387"/>
                </a:solidFill>
                <a:latin typeface="Aptos"/>
              </a:rPr>
              <a:t>7 (32%)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5394959"/>
            <a:ext cx="18818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32D41"/>
                </a:solidFill>
                <a:latin typeface="Aptos"/>
              </a:rPr>
              <a:t>3 a 5 anos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282635" y="5431536"/>
            <a:ext cx="2240280" cy="164592"/>
          </a:xfrm>
          <a:prstGeom prst="round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282635" y="5431536"/>
            <a:ext cx="672084" cy="164592"/>
          </a:xfrm>
          <a:prstGeom prst="roundRect">
            <a:avLst/>
          </a:prstGeom>
          <a:solidFill>
            <a:srgbClr val="F5A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22915" y="5367527"/>
            <a:ext cx="3584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387"/>
                </a:solidFill>
                <a:latin typeface="Aptos"/>
              </a:rPr>
              <a:t>3 (14%)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5760720"/>
            <a:ext cx="18818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32D41"/>
                </a:solidFill>
                <a:latin typeface="Aptos"/>
              </a:rPr>
              <a:t>Ainda não atuo profissionalmente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282635" y="5797296"/>
            <a:ext cx="2240280" cy="164592"/>
          </a:xfrm>
          <a:prstGeom prst="round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282635" y="5797296"/>
            <a:ext cx="448056" cy="164592"/>
          </a:xfrm>
          <a:prstGeom prst="roundRect">
            <a:avLst/>
          </a:prstGeom>
          <a:solidFill>
            <a:srgbClr val="3C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522915" y="5733288"/>
            <a:ext cx="3584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387"/>
                </a:solidFill>
                <a:latin typeface="Aptos"/>
              </a:rPr>
              <a:t>2 (9%)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Necessidade de evolução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BED2"/>
                </a:solidFill>
                <a:latin typeface="Aptos"/>
              </a:rPr>
              <a:t>O dado mais importante: o público quer crescer mesmo quando já se considera capaz.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212080" cy="45262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142D"/>
                </a:solidFill>
                <a:latin typeface="Aptos"/>
              </a:rPr>
              <a:t>Para onde querem evoluir?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29968"/>
            <a:ext cx="18818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32D41"/>
                </a:solidFill>
                <a:latin typeface="Aptos"/>
              </a:rPr>
              <a:t>Evoluir na minha área de formação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50515" y="2066544"/>
            <a:ext cx="2240280" cy="164592"/>
          </a:xfrm>
          <a:prstGeom prst="round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50515" y="2066544"/>
            <a:ext cx="2240280" cy="164592"/>
          </a:xfrm>
          <a:prstGeom prst="roundRect">
            <a:avLst/>
          </a:prstGeom>
          <a:solidFill>
            <a:srgbClr val="2B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90795" y="2002536"/>
            <a:ext cx="3584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387"/>
                </a:solidFill>
                <a:latin typeface="Aptos"/>
              </a:rPr>
              <a:t>9 (41%)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96896"/>
            <a:ext cx="18818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32D41"/>
                </a:solidFill>
                <a:latin typeface="Aptos"/>
              </a:rPr>
              <a:t>Evoluir na minha área de atuação atual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50515" y="2633472"/>
            <a:ext cx="2240280" cy="164592"/>
          </a:xfrm>
          <a:prstGeom prst="round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50515" y="2633472"/>
            <a:ext cx="1493520" cy="164592"/>
          </a:xfrm>
          <a:prstGeom prst="roundRect">
            <a:avLst/>
          </a:prstGeom>
          <a:solidFill>
            <a:srgbClr val="825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90795" y="2569464"/>
            <a:ext cx="3584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387"/>
                </a:solidFill>
                <a:latin typeface="Aptos"/>
              </a:rPr>
              <a:t>6 (27%)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63824"/>
            <a:ext cx="18818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32D41"/>
                </a:solidFill>
                <a:latin typeface="Aptos"/>
              </a:rPr>
              <a:t>Migrar para uma nova área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50515" y="3200400"/>
            <a:ext cx="2240280" cy="164592"/>
          </a:xfrm>
          <a:prstGeom prst="round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50515" y="3200400"/>
            <a:ext cx="746760" cy="164592"/>
          </a:xfrm>
          <a:prstGeom prst="roundRect">
            <a:avLst/>
          </a:prstGeom>
          <a:solidFill>
            <a:srgbClr val="F5A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90795" y="3136392"/>
            <a:ext cx="3584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387"/>
                </a:solidFill>
                <a:latin typeface="Aptos"/>
              </a:rPr>
              <a:t>3 (14%)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730752"/>
            <a:ext cx="18818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32D41"/>
                </a:solidFill>
                <a:latin typeface="Aptos"/>
              </a:rPr>
              <a:t>Desenvolver uma nova área de interesse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50515" y="3767328"/>
            <a:ext cx="2240280" cy="164592"/>
          </a:xfrm>
          <a:prstGeom prst="round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50515" y="3767328"/>
            <a:ext cx="497840" cy="164592"/>
          </a:xfrm>
          <a:prstGeom prst="roundRect">
            <a:avLst/>
          </a:prstGeom>
          <a:solidFill>
            <a:srgbClr val="3C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90795" y="3703320"/>
            <a:ext cx="3584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387"/>
                </a:solidFill>
                <a:latin typeface="Aptos"/>
              </a:rPr>
              <a:t>2 (9%)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297680"/>
            <a:ext cx="18818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32D41"/>
                </a:solidFill>
                <a:latin typeface="Aptos"/>
              </a:rPr>
              <a:t>Ainda não sei qual área seguir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50515" y="4334256"/>
            <a:ext cx="2240280" cy="164592"/>
          </a:xfrm>
          <a:prstGeom prst="round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750515" y="4334256"/>
            <a:ext cx="497840" cy="164592"/>
          </a:xfrm>
          <a:prstGeom prst="roundRect">
            <a:avLst/>
          </a:prstGeom>
          <a:solidFill>
            <a:srgbClr val="2B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90795" y="4270248"/>
            <a:ext cx="3584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387"/>
                </a:solidFill>
                <a:latin typeface="Aptos"/>
              </a:rPr>
              <a:t>2 (9%)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1325880"/>
            <a:ext cx="5074920" cy="45262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15727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142D"/>
                </a:solidFill>
                <a:latin typeface="Aptos"/>
              </a:rPr>
              <a:t>Sentimento de capacidade na área desejada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057400"/>
            <a:ext cx="18818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32D41"/>
                </a:solidFill>
                <a:latin typeface="Aptos"/>
              </a:rPr>
              <a:t>Sim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82635" y="2093976"/>
            <a:ext cx="2240280" cy="164592"/>
          </a:xfrm>
          <a:prstGeom prst="round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82635" y="2093976"/>
            <a:ext cx="2240280" cy="164592"/>
          </a:xfrm>
          <a:prstGeom prst="roundRect">
            <a:avLst/>
          </a:prstGeom>
          <a:solidFill>
            <a:srgbClr val="3C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22915" y="2029968"/>
            <a:ext cx="3584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387"/>
                </a:solidFill>
                <a:latin typeface="Aptos"/>
              </a:rPr>
              <a:t>16 (73%)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606040"/>
            <a:ext cx="18818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32D41"/>
                </a:solidFill>
                <a:latin typeface="Aptos"/>
              </a:rPr>
              <a:t>Não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82635" y="2642616"/>
            <a:ext cx="2240280" cy="164592"/>
          </a:xfrm>
          <a:prstGeom prst="round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282635" y="2642616"/>
            <a:ext cx="420052" cy="164592"/>
          </a:xfrm>
          <a:prstGeom prst="roundRect">
            <a:avLst/>
          </a:prstGeom>
          <a:solidFill>
            <a:srgbClr val="2B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22915" y="2578608"/>
            <a:ext cx="3584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387"/>
                </a:solidFill>
                <a:latin typeface="Aptos"/>
              </a:rPr>
              <a:t>3 (14%)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154680"/>
            <a:ext cx="18818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32D41"/>
                </a:solidFill>
                <a:latin typeface="Aptos"/>
              </a:rPr>
              <a:t>As vezes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82635" y="3191256"/>
            <a:ext cx="2240280" cy="164592"/>
          </a:xfrm>
          <a:prstGeom prst="round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282635" y="3191256"/>
            <a:ext cx="140017" cy="164592"/>
          </a:xfrm>
          <a:prstGeom prst="roundRect">
            <a:avLst/>
          </a:prstGeom>
          <a:solidFill>
            <a:srgbClr val="F5A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22915" y="3127248"/>
            <a:ext cx="3584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387"/>
                </a:solidFill>
                <a:latin typeface="Aptos"/>
              </a:rPr>
              <a:t>1 (5%)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3703320"/>
            <a:ext cx="18818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32D41"/>
                </a:solidFill>
                <a:latin typeface="Aptos"/>
              </a:rPr>
              <a:t>Estou a busca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82635" y="3739896"/>
            <a:ext cx="2240280" cy="164592"/>
          </a:xfrm>
          <a:prstGeom prst="round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282635" y="3739896"/>
            <a:ext cx="140017" cy="164592"/>
          </a:xfrm>
          <a:prstGeom prst="roundRect">
            <a:avLst/>
          </a:prstGeom>
          <a:solidFill>
            <a:srgbClr val="825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22915" y="3675887"/>
            <a:ext cx="3584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387"/>
                </a:solidFill>
                <a:latin typeface="Aptos"/>
              </a:rPr>
              <a:t>1 (5%)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4251960"/>
            <a:ext cx="18818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32D41"/>
                </a:solidFill>
                <a:latin typeface="Aptos"/>
              </a:rPr>
              <a:t>Não 100%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82635" y="4288536"/>
            <a:ext cx="2240280" cy="164592"/>
          </a:xfrm>
          <a:prstGeom prst="round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282635" y="4288536"/>
            <a:ext cx="140017" cy="164592"/>
          </a:xfrm>
          <a:prstGeom prst="roundRect">
            <a:avLst/>
          </a:prstGeom>
          <a:solidFill>
            <a:srgbClr val="3C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22915" y="4224528"/>
            <a:ext cx="3584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387"/>
                </a:solidFill>
                <a:latin typeface="Aptos"/>
              </a:rPr>
              <a:t>1 (5%)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4983480"/>
            <a:ext cx="4434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A142D"/>
                </a:solidFill>
                <a:latin typeface="Aptos"/>
              </a:rPr>
              <a:t>72,7% responderam “Sim”.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504688"/>
            <a:ext cx="4434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387"/>
                </a:solidFill>
                <a:latin typeface="Aptos"/>
              </a:rPr>
              <a:t>Isso desloca o problema de “não sei fazer” para “como continuo evoluindo?”.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O que aparece nas respostas abertas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BED2"/>
                </a:solidFill>
                <a:latin typeface="Aptos"/>
              </a:rPr>
              <a:t>As frases dos participantes ajudam a definir a dor real da persona.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074920" cy="1234440"/>
          </a:xfrm>
          <a:prstGeom prst="roundRect">
            <a:avLst/>
          </a:prstGeom>
          <a:solidFill>
            <a:srgbClr val="11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581912"/>
            <a:ext cx="4617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“melhor direcionamento e centralização”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24942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BD2DC"/>
                </a:solidFill>
                <a:latin typeface="Aptos"/>
              </a:rPr>
              <a:t>Direção + organização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17320"/>
            <a:ext cx="5074920" cy="1234440"/>
          </a:xfrm>
          <a:prstGeom prst="roundRect">
            <a:avLst/>
          </a:prstGeom>
          <a:solidFill>
            <a:srgbClr val="11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7648" y="1581912"/>
            <a:ext cx="4617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“daria um norte”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7648" y="224942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BD2DC"/>
                </a:solidFill>
                <a:latin typeface="Aptos"/>
              </a:rPr>
              <a:t>Clareza para decidir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26080"/>
            <a:ext cx="5074920" cy="1234440"/>
          </a:xfrm>
          <a:prstGeom prst="roundRect">
            <a:avLst/>
          </a:prstGeom>
          <a:solidFill>
            <a:srgbClr val="11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3090672"/>
            <a:ext cx="4617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“não sabemos por onde começar”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75818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BD2DC"/>
                </a:solidFill>
                <a:latin typeface="Aptos"/>
              </a:rPr>
              <a:t>Ponto de partida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926080"/>
            <a:ext cx="5074920" cy="1234440"/>
          </a:xfrm>
          <a:prstGeom prst="roundRect">
            <a:avLst/>
          </a:prstGeom>
          <a:solidFill>
            <a:srgbClr val="11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3090672"/>
            <a:ext cx="4617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“une tudo isso”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375818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BD2DC"/>
                </a:solidFill>
                <a:latin typeface="Aptos"/>
              </a:rPr>
              <a:t>Centralização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434840"/>
            <a:ext cx="5074920" cy="1234440"/>
          </a:xfrm>
          <a:prstGeom prst="roundRect">
            <a:avLst/>
          </a:prstGeom>
          <a:solidFill>
            <a:srgbClr val="11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4599431"/>
            <a:ext cx="4617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“tirar todas as minhas dúvidas”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526694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BD2DC"/>
                </a:solidFill>
                <a:latin typeface="Aptos"/>
              </a:rPr>
              <a:t>Apoio durante o aprendizado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4434840"/>
            <a:ext cx="5074920" cy="1234440"/>
          </a:xfrm>
          <a:prstGeom prst="roundRect">
            <a:avLst/>
          </a:prstGeom>
          <a:solidFill>
            <a:srgbClr val="11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4599431"/>
            <a:ext cx="4617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“em busca de melhores cargos”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526694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BD2DC"/>
                </a:solidFill>
                <a:latin typeface="Aptos"/>
              </a:rPr>
              <a:t>Crescimento profissional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989320"/>
            <a:ext cx="10561320" cy="4572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6117336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32D41"/>
                </a:solidFill>
                <a:latin typeface="Aptos"/>
              </a:rPr>
              <a:t>Leitura qualitativa: as respostas convergem principalmente para direção, centralização, capacitação, dúvidas e crescimento.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Persona Canvas — versão baseada nos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BED2"/>
                </a:solidFill>
                <a:latin typeface="Aptos"/>
              </a:rPr>
              <a:t>Persona sintética: representa o padrão predominante da amostra; não é uma pessoa real.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2743200" cy="5166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4813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A142D"/>
                </a:solidFill>
                <a:latin typeface="Aptos"/>
              </a:rPr>
              <a:t>LUCAS, 22 ANOS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84708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25AEB"/>
                </a:solidFill>
                <a:latin typeface="Aptos"/>
              </a:rPr>
              <a:t>Profissional em início de carreira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423160"/>
            <a:ext cx="2240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2BD2DC"/>
                </a:solidFill>
              </a:rPr>
              <a:t>• </a:t>
            </a:r>
            <a:r>
              <a:rPr sz="1100">
                <a:solidFill>
                  <a:srgbClr val="232D41"/>
                </a:solidFill>
                <a:latin typeface="Aptos"/>
              </a:rPr>
              <a:t>18–24 anos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2BD2DC"/>
                </a:solidFill>
              </a:rPr>
              <a:t>• </a:t>
            </a:r>
            <a:r>
              <a:rPr sz="1100">
                <a:solidFill>
                  <a:srgbClr val="232D41"/>
                </a:solidFill>
                <a:latin typeface="Aptos"/>
              </a:rPr>
              <a:t>Empregado ou estagiário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2BD2DC"/>
                </a:solidFill>
              </a:rPr>
              <a:t>• </a:t>
            </a:r>
            <a:r>
              <a:rPr sz="1100">
                <a:solidFill>
                  <a:srgbClr val="232D41"/>
                </a:solidFill>
                <a:latin typeface="Aptos"/>
              </a:rPr>
              <a:t>0–2 anos de experiência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2BD2DC"/>
                </a:solidFill>
              </a:rPr>
              <a:t>• </a:t>
            </a:r>
            <a:r>
              <a:rPr sz="1100">
                <a:solidFill>
                  <a:srgbClr val="232D41"/>
                </a:solidFill>
                <a:latin typeface="Aptos"/>
              </a:rPr>
              <a:t>Quer crescer na formação ou área atual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2BD2DC"/>
                </a:solidFill>
              </a:rPr>
              <a:t>• </a:t>
            </a:r>
            <a:r>
              <a:rPr sz="1100">
                <a:solidFill>
                  <a:srgbClr val="232D41"/>
                </a:solidFill>
                <a:latin typeface="Aptos"/>
              </a:rPr>
              <a:t>Pode estar estudando e trabalhando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2BD2DC"/>
                </a:solidFill>
              </a:rPr>
              <a:t>• </a:t>
            </a:r>
            <a:r>
              <a:rPr sz="1100">
                <a:solidFill>
                  <a:srgbClr val="232D41"/>
                </a:solidFill>
                <a:latin typeface="Aptos"/>
              </a:rPr>
              <a:t>Já possui alguma capacidade, mas quer evoluir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234440"/>
            <a:ext cx="2560320" cy="14173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1380744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BD2DC"/>
                </a:solidFill>
                <a:latin typeface="Aptos"/>
              </a:rPr>
              <a:t>OBJETIVOS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1709928"/>
            <a:ext cx="223113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2BD2DC"/>
                </a:solidFill>
              </a:rPr>
              <a:t>• </a:t>
            </a:r>
            <a:r>
              <a:rPr sz="1000">
                <a:solidFill>
                  <a:srgbClr val="232D41"/>
                </a:solidFill>
                <a:latin typeface="Aptos"/>
              </a:rPr>
              <a:t>Evoluir profissionalmente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2BD2DC"/>
                </a:solidFill>
              </a:rPr>
              <a:t>• </a:t>
            </a:r>
            <a:r>
              <a:rPr sz="1000">
                <a:solidFill>
                  <a:srgbClr val="232D41"/>
                </a:solidFill>
                <a:latin typeface="Aptos"/>
              </a:rPr>
              <a:t>Chegar a cargos melhores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2BD2DC"/>
                </a:solidFill>
              </a:rPr>
              <a:t>• </a:t>
            </a:r>
            <a:r>
              <a:rPr sz="1000">
                <a:solidFill>
                  <a:srgbClr val="232D41"/>
                </a:solidFill>
                <a:latin typeface="Aptos"/>
              </a:rPr>
              <a:t>Escolher próximos passos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234440"/>
            <a:ext cx="2560320" cy="14173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380744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25AEB"/>
                </a:solidFill>
                <a:latin typeface="Aptos"/>
              </a:rPr>
              <a:t>DORES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1709928"/>
            <a:ext cx="223113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825AEB"/>
                </a:solidFill>
              </a:rPr>
              <a:t>• </a:t>
            </a:r>
            <a:r>
              <a:rPr sz="1000">
                <a:solidFill>
                  <a:srgbClr val="232D41"/>
                </a:solidFill>
                <a:latin typeface="Aptos"/>
              </a:rPr>
              <a:t>Não saber por onde começar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825AEB"/>
                </a:solidFill>
              </a:rPr>
              <a:t>• </a:t>
            </a:r>
            <a:r>
              <a:rPr sz="1000">
                <a:solidFill>
                  <a:srgbClr val="232D41"/>
                </a:solidFill>
                <a:latin typeface="Aptos"/>
              </a:rPr>
              <a:t>Dificuldade para escolher conteúdos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825AEB"/>
                </a:solidFill>
              </a:rPr>
              <a:t>• </a:t>
            </a:r>
            <a:r>
              <a:rPr sz="1000">
                <a:solidFill>
                  <a:srgbClr val="232D41"/>
                </a:solidFill>
                <a:latin typeface="Aptos"/>
              </a:rPr>
              <a:t>Dúvidas sobre o que estudar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1234440"/>
            <a:ext cx="2560320" cy="14173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34272" y="1380744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CB482"/>
                </a:solidFill>
                <a:latin typeface="Aptos"/>
              </a:rPr>
              <a:t>NECESSIDADES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34272" y="1709928"/>
            <a:ext cx="223113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3CB482"/>
                </a:solidFill>
              </a:rPr>
              <a:t>• </a:t>
            </a:r>
            <a:r>
              <a:rPr sz="1000">
                <a:solidFill>
                  <a:srgbClr val="232D41"/>
                </a:solidFill>
                <a:latin typeface="Aptos"/>
              </a:rPr>
              <a:t>Direção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3CB482"/>
                </a:solidFill>
              </a:rPr>
              <a:t>• </a:t>
            </a:r>
            <a:r>
              <a:rPr sz="1000">
                <a:solidFill>
                  <a:srgbClr val="232D41"/>
                </a:solidFill>
                <a:latin typeface="Aptos"/>
              </a:rPr>
              <a:t>Conteúdo centralizado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3CB482"/>
                </a:solidFill>
              </a:rPr>
              <a:t>• </a:t>
            </a:r>
            <a:r>
              <a:rPr sz="1000">
                <a:solidFill>
                  <a:srgbClr val="232D41"/>
                </a:solidFill>
                <a:latin typeface="Aptos"/>
              </a:rPr>
              <a:t>Plano compatível com seu objetivo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2834640"/>
            <a:ext cx="2560320" cy="14173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39312" y="2980944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A546"/>
                </a:solidFill>
                <a:latin typeface="Aptos"/>
              </a:rPr>
              <a:t>COMPORTAMENTO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3310128"/>
            <a:ext cx="223113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F5A546"/>
                </a:solidFill>
              </a:rPr>
              <a:t>• </a:t>
            </a:r>
            <a:r>
              <a:rPr sz="1000">
                <a:solidFill>
                  <a:srgbClr val="232D41"/>
                </a:solidFill>
                <a:latin typeface="Aptos"/>
              </a:rPr>
              <a:t>Busca capacitação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F5A546"/>
                </a:solidFill>
              </a:rPr>
              <a:t>• </a:t>
            </a:r>
            <a:r>
              <a:rPr sz="1000">
                <a:solidFill>
                  <a:srgbClr val="232D41"/>
                </a:solidFill>
                <a:latin typeface="Aptos"/>
              </a:rPr>
              <a:t>Combina trabalho e formação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F5A546"/>
                </a:solidFill>
              </a:rPr>
              <a:t>• </a:t>
            </a:r>
            <a:r>
              <a:rPr sz="1000">
                <a:solidFill>
                  <a:srgbClr val="232D41"/>
                </a:solidFill>
                <a:latin typeface="Aptos"/>
              </a:rPr>
              <a:t>Aprende conforme a necessidade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834640"/>
            <a:ext cx="2560320" cy="14173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2980944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BD2DC"/>
                </a:solidFill>
                <a:latin typeface="Aptos"/>
              </a:rPr>
              <a:t>FRUSTRAÇÕES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3310128"/>
            <a:ext cx="223113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2BD2DC"/>
                </a:solidFill>
              </a:rPr>
              <a:t>• </a:t>
            </a:r>
            <a:r>
              <a:rPr sz="1000">
                <a:solidFill>
                  <a:srgbClr val="232D41"/>
                </a:solidFill>
                <a:latin typeface="Aptos"/>
              </a:rPr>
              <a:t>Cursos sem aprendizado percebido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2BD2DC"/>
                </a:solidFill>
              </a:rPr>
              <a:t>• </a:t>
            </a:r>
            <a:r>
              <a:rPr sz="1000">
                <a:solidFill>
                  <a:srgbClr val="232D41"/>
                </a:solidFill>
                <a:latin typeface="Aptos"/>
              </a:rPr>
              <a:t>Excesso de opções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2BD2DC"/>
                </a:solidFill>
              </a:rPr>
              <a:t>• </a:t>
            </a:r>
            <a:r>
              <a:rPr sz="1000">
                <a:solidFill>
                  <a:srgbClr val="232D41"/>
                </a:solidFill>
                <a:latin typeface="Aptos"/>
              </a:rPr>
              <a:t>Falta de clareza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2834640"/>
            <a:ext cx="2560320" cy="14173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34272" y="2980944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25AEB"/>
                </a:solidFill>
                <a:latin typeface="Aptos"/>
              </a:rPr>
              <a:t>O QUE VALORIZA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4272" y="3310128"/>
            <a:ext cx="223113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825AEB"/>
                </a:solidFill>
              </a:rPr>
              <a:t>• </a:t>
            </a:r>
            <a:r>
              <a:rPr sz="1000">
                <a:solidFill>
                  <a:srgbClr val="232D41"/>
                </a:solidFill>
                <a:latin typeface="Aptos"/>
              </a:rPr>
              <a:t>Praticidade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825AEB"/>
                </a:solidFill>
              </a:rPr>
              <a:t>• </a:t>
            </a:r>
            <a:r>
              <a:rPr sz="1000">
                <a:solidFill>
                  <a:srgbClr val="232D41"/>
                </a:solidFill>
                <a:latin typeface="Aptos"/>
              </a:rPr>
              <a:t>Acesso fácil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825AEB"/>
                </a:solidFill>
              </a:rPr>
              <a:t>• </a:t>
            </a:r>
            <a:r>
              <a:rPr sz="1000">
                <a:solidFill>
                  <a:srgbClr val="232D41"/>
                </a:solidFill>
                <a:latin typeface="Aptos"/>
              </a:rPr>
              <a:t>Relevância para a carreira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0" y="4434840"/>
            <a:ext cx="3886200" cy="1965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39312" y="4581144"/>
            <a:ext cx="3557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BD2DC"/>
                </a:solidFill>
                <a:latin typeface="Aptos"/>
              </a:rPr>
              <a:t>FALA REPRESENTATIVA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39312" y="4910327"/>
            <a:ext cx="3557016" cy="1399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2BD2DC"/>
                </a:solidFill>
              </a:rPr>
              <a:t>• </a:t>
            </a:r>
            <a:r>
              <a:rPr sz="1000">
                <a:solidFill>
                  <a:srgbClr val="232D41"/>
                </a:solidFill>
                <a:latin typeface="Aptos"/>
              </a:rPr>
              <a:t>“Não preciso necessariamente de mais conteúdo.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2BD2DC"/>
                </a:solidFill>
              </a:rPr>
              <a:t>• </a:t>
            </a:r>
            <a:r>
              <a:rPr sz="1000">
                <a:solidFill>
                  <a:srgbClr val="232D41"/>
                </a:solidFill>
                <a:latin typeface="Aptos"/>
              </a:rPr>
              <a:t>Preciso saber qual conteúdo faz sentido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2BD2DC"/>
                </a:solidFill>
              </a:rPr>
              <a:t>• </a:t>
            </a:r>
            <a:r>
              <a:rPr sz="1000">
                <a:solidFill>
                  <a:srgbClr val="232D41"/>
                </a:solidFill>
                <a:latin typeface="Aptos"/>
              </a:rPr>
              <a:t>para o caminho que quero seguir.”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4434840"/>
            <a:ext cx="3886200" cy="1965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08392" y="4581144"/>
            <a:ext cx="3557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CB482"/>
                </a:solidFill>
                <a:latin typeface="Aptos"/>
              </a:rPr>
              <a:t>OPORTUNIDADE PARA A SKILLWAY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08392" y="4910327"/>
            <a:ext cx="3557016" cy="1399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3CB482"/>
                </a:solidFill>
              </a:rPr>
              <a:t>• </a:t>
            </a:r>
            <a:r>
              <a:rPr sz="1000">
                <a:solidFill>
                  <a:srgbClr val="232D41"/>
                </a:solidFill>
                <a:latin typeface="Aptos"/>
              </a:rPr>
              <a:t>Transformar excesso de opções em um caminho.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3CB482"/>
                </a:solidFill>
              </a:rPr>
              <a:t>• </a:t>
            </a:r>
            <a:r>
              <a:rPr sz="1000">
                <a:solidFill>
                  <a:srgbClr val="232D41"/>
                </a:solidFill>
                <a:latin typeface="Aptos"/>
              </a:rPr>
              <a:t>Perfil → objetivo → gap → ação → evidência → evolução.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O que isso muda na proposta da SkillWay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BED2"/>
                </a:solidFill>
                <a:latin typeface="Aptos"/>
              </a:rPr>
              <a:t>A pesquisa ajuda a evitar uma persona genérica e aponta onde o produto deve concentrar seu valor.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120640" cy="16916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2BD2D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1848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142D"/>
                </a:solidFill>
                <a:latin typeface="Aptos"/>
              </a:rPr>
              <a:t>Não vender apenas cursos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075688"/>
            <a:ext cx="3886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D41"/>
                </a:solidFill>
                <a:latin typeface="Aptos"/>
              </a:rPr>
              <a:t>O problema identificado é também de escolha, direção e organização.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120640" cy="16916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2BD2DC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61848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142D"/>
                </a:solidFill>
                <a:latin typeface="Aptos"/>
              </a:rPr>
              <a:t>Começar pelo objetivo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075688"/>
            <a:ext cx="3886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D41"/>
                </a:solidFill>
                <a:latin typeface="Aptos"/>
              </a:rPr>
              <a:t>Perguntar “onde você quer chegar?” antes de recomendar conteúdo.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120640" cy="16916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033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2BD2DC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675887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142D"/>
                </a:solidFill>
                <a:latin typeface="Aptos"/>
              </a:rPr>
              <a:t>Entregar um caminho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133087"/>
            <a:ext cx="3886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D41"/>
                </a:solidFill>
                <a:latin typeface="Aptos"/>
              </a:rPr>
              <a:t>Relacionar objetivo → competências → conteúdos → ações práticas.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474720"/>
            <a:ext cx="5120640" cy="16916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7033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2BD2DC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3675887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142D"/>
                </a:solidFill>
                <a:latin typeface="Aptos"/>
              </a:rPr>
              <a:t>Mostrar evolução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4133087"/>
            <a:ext cx="3886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D41"/>
                </a:solidFill>
                <a:latin typeface="Aptos"/>
              </a:rPr>
              <a:t>Permitir que o usuário perceba o que já domina e o que ainda falta.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150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Síntese para apresentação: “A SkillWay não precisa descobrir que as pessoas querem aprender. Os dados mostram que elas precisam de um caminho para aprender melhor e evoluir.”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